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rts/chart1.xml" ContentType="application/vnd.openxmlformats-officedocument.drawingml.chart+xml"/>
  <Override PartName="/ppt/notesSlides/notesSlide2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slide" Target="slides/slide25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34" Type="http://schemas.openxmlformats.org/officeDocument/2006/relationships/viewProps" Target="view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slide" Target="slides/slide24.xml" /><Relationship Id="rId33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29" Type="http://schemas.openxmlformats.org/officeDocument/2006/relationships/slide" Target="slides/slide28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slide" Target="slides/slide23.xml" /><Relationship Id="rId32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tableStyles" Target="tableStyles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31" Type="http://schemas.openxmlformats.org/officeDocument/2006/relationships/slide" Target="slides/slide3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30" Type="http://schemas.openxmlformats.org/officeDocument/2006/relationships/slide" Target="slides/slide29.xml" /><Relationship Id="rId35" Type="http://schemas.openxmlformats.org/officeDocument/2006/relationships/theme" Target="theme/theme1.xml" 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A_0.xlsx" 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B_0.xlsx" 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1B_01.xlsx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D1B2A"/>
                </a:solidFill>
                <a:latin typeface="Arial"/>
              </a:rPr>
              <a:t>Completion Rate (%) vs Number of Agents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BMAA*-f-c</c:v>
                </c:pt>
              </c:strCache>
            </c:strRef>
          </c:tx>
          <c:spPr>
            <a:ln w="31750" cap="flat">
              <a:solidFill>
                <a:srgbClr val="FB85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B8500"/>
              </a:solidFill>
              <a:ln w="9525" cap="flat">
                <a:solidFill>
                  <a:srgbClr val="FB850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25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  <c:pt idx="4">
                  <c:v>600</c:v>
                </c:pt>
                <c:pt idx="5">
                  <c:v>800</c:v>
                </c:pt>
                <c:pt idx="6">
                  <c:v>1000</c:v>
                </c:pt>
                <c:pt idx="7">
                  <c:v>1500</c:v>
                </c:pt>
                <c:pt idx="8">
                  <c:v>2000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99</c:v>
                </c:pt>
                <c:pt idx="1">
                  <c:v>95</c:v>
                </c:pt>
                <c:pt idx="2">
                  <c:v>90</c:v>
                </c:pt>
                <c:pt idx="3">
                  <c:v>80</c:v>
                </c:pt>
                <c:pt idx="4">
                  <c:v>72</c:v>
                </c:pt>
                <c:pt idx="5">
                  <c:v>65</c:v>
                </c:pt>
                <c:pt idx="6">
                  <c:v>58</c:v>
                </c:pt>
                <c:pt idx="7">
                  <c:v>45</c:v>
                </c:pt>
                <c:pt idx="8">
                  <c:v>38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BBC-4BE5-BDDB-1406E4BBFE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BMAA*-f</c:v>
                </c:pt>
              </c:strCache>
            </c:strRef>
          </c:tx>
          <c:spPr>
            <a:ln w="31750" cap="flat">
              <a:solidFill>
                <a:srgbClr val="FFD16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D166"/>
              </a:solidFill>
              <a:ln w="9525" cap="flat">
                <a:solidFill>
                  <a:srgbClr val="FFD16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25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  <c:pt idx="4">
                  <c:v>600</c:v>
                </c:pt>
                <c:pt idx="5">
                  <c:v>800</c:v>
                </c:pt>
                <c:pt idx="6">
                  <c:v>1000</c:v>
                </c:pt>
                <c:pt idx="7">
                  <c:v>1500</c:v>
                </c:pt>
                <c:pt idx="8">
                  <c:v>2000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99</c:v>
                </c:pt>
                <c:pt idx="1">
                  <c:v>94</c:v>
                </c:pt>
                <c:pt idx="2">
                  <c:v>88</c:v>
                </c:pt>
                <c:pt idx="3">
                  <c:v>78</c:v>
                </c:pt>
                <c:pt idx="4">
                  <c:v>70</c:v>
                </c:pt>
                <c:pt idx="5">
                  <c:v>62</c:v>
                </c:pt>
                <c:pt idx="6">
                  <c:v>55</c:v>
                </c:pt>
                <c:pt idx="7">
                  <c:v>42</c:v>
                </c:pt>
                <c:pt idx="8">
                  <c:v>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BBC-4BE5-BDDB-1406E4BBFE7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BMAA*-c</c:v>
                </c:pt>
              </c:strCache>
            </c:strRef>
          </c:tx>
          <c:spPr>
            <a:ln w="31750" cap="flat">
              <a:solidFill>
                <a:srgbClr val="06D6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D6A0"/>
              </a:solidFill>
              <a:ln w="9525" cap="flat">
                <a:solidFill>
                  <a:srgbClr val="06D6A0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25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  <c:pt idx="4">
                  <c:v>600</c:v>
                </c:pt>
                <c:pt idx="5">
                  <c:v>800</c:v>
                </c:pt>
                <c:pt idx="6">
                  <c:v>1000</c:v>
                </c:pt>
                <c:pt idx="7">
                  <c:v>1500</c:v>
                </c:pt>
                <c:pt idx="8">
                  <c:v>2000</c:v>
                </c:pt>
              </c:strCache>
            </c:strRef>
          </c:cat>
          <c:val>
            <c:numRef>
              <c:f>Sheet1!$D$2:$D$10</c:f>
              <c:numCache>
                <c:formatCode>General</c:formatCode>
                <c:ptCount val="9"/>
                <c:pt idx="0">
                  <c:v>98</c:v>
                </c:pt>
                <c:pt idx="1">
                  <c:v>92</c:v>
                </c:pt>
                <c:pt idx="2">
                  <c:v>86</c:v>
                </c:pt>
                <c:pt idx="3">
                  <c:v>74</c:v>
                </c:pt>
                <c:pt idx="4">
                  <c:v>65</c:v>
                </c:pt>
                <c:pt idx="5">
                  <c:v>55</c:v>
                </c:pt>
                <c:pt idx="6">
                  <c:v>48</c:v>
                </c:pt>
                <c:pt idx="7">
                  <c:v>36</c:v>
                </c:pt>
                <c:pt idx="8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BBC-4BE5-BDDB-1406E4BBFE7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BMAA*</c:v>
                </c:pt>
              </c:strCache>
            </c:strRef>
          </c:tx>
          <c:spPr>
            <a:ln w="3175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25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  <c:pt idx="4">
                  <c:v>600</c:v>
                </c:pt>
                <c:pt idx="5">
                  <c:v>800</c:v>
                </c:pt>
                <c:pt idx="6">
                  <c:v>1000</c:v>
                </c:pt>
                <c:pt idx="7">
                  <c:v>1500</c:v>
                </c:pt>
                <c:pt idx="8">
                  <c:v>2000</c:v>
                </c:pt>
              </c:strCache>
            </c:strRef>
          </c:cat>
          <c:val>
            <c:numRef>
              <c:f>Sheet1!$E$2:$E$10</c:f>
              <c:numCache>
                <c:formatCode>General</c:formatCode>
                <c:ptCount val="9"/>
                <c:pt idx="0">
                  <c:v>98</c:v>
                </c:pt>
                <c:pt idx="1">
                  <c:v>91</c:v>
                </c:pt>
                <c:pt idx="2">
                  <c:v>85</c:v>
                </c:pt>
                <c:pt idx="3">
                  <c:v>72</c:v>
                </c:pt>
                <c:pt idx="4">
                  <c:v>63</c:v>
                </c:pt>
                <c:pt idx="5">
                  <c:v>53</c:v>
                </c:pt>
                <c:pt idx="6">
                  <c:v>46</c:v>
                </c:pt>
                <c:pt idx="7">
                  <c:v>34</c:v>
                </c:pt>
                <c:pt idx="8">
                  <c:v>26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BBC-4BE5-BDDB-1406E4BBFE73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A*-Replan</c:v>
                </c:pt>
              </c:strCache>
            </c:strRef>
          </c:tx>
          <c:spPr>
            <a:ln w="31750" cap="flat">
              <a:solidFill>
                <a:srgbClr val="0077B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77B6"/>
              </a:solidFill>
              <a:ln w="9525" cap="flat">
                <a:solidFill>
                  <a:srgbClr val="0077B6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25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  <c:pt idx="4">
                  <c:v>600</c:v>
                </c:pt>
                <c:pt idx="5">
                  <c:v>800</c:v>
                </c:pt>
                <c:pt idx="6">
                  <c:v>1000</c:v>
                </c:pt>
                <c:pt idx="7">
                  <c:v>1500</c:v>
                </c:pt>
                <c:pt idx="8">
                  <c:v>2000</c:v>
                </c:pt>
              </c:strCache>
            </c:strRef>
          </c:cat>
          <c:val>
            <c:numRef>
              <c:f>Sheet1!$F$2:$F$10</c:f>
              <c:numCache>
                <c:formatCode>General</c:formatCode>
                <c:ptCount val="9"/>
                <c:pt idx="0">
                  <c:v>97</c:v>
                </c:pt>
                <c:pt idx="1">
                  <c:v>80</c:v>
                </c:pt>
                <c:pt idx="2">
                  <c:v>65</c:v>
                </c:pt>
                <c:pt idx="3">
                  <c:v>40</c:v>
                </c:pt>
                <c:pt idx="4">
                  <c:v>28</c:v>
                </c:pt>
                <c:pt idx="5">
                  <c:v>20</c:v>
                </c:pt>
                <c:pt idx="6">
                  <c:v>15</c:v>
                </c:pt>
                <c:pt idx="7">
                  <c:v>10</c:v>
                </c:pt>
                <c:pt idx="8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8BBC-4BE5-BDDB-1406E4BBFE73}"/>
            </c:ext>
          </c:extLst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FAR</c:v>
                </c:pt>
              </c:strCache>
            </c:strRef>
          </c:tx>
          <c:spPr>
            <a:ln w="31750" cap="flat">
              <a:solidFill>
                <a:srgbClr val="F725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72585"/>
              </a:solidFill>
              <a:ln w="9525" cap="flat">
                <a:solidFill>
                  <a:srgbClr val="F72585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25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  <c:pt idx="4">
                  <c:v>600</c:v>
                </c:pt>
                <c:pt idx="5">
                  <c:v>800</c:v>
                </c:pt>
                <c:pt idx="6">
                  <c:v>1000</c:v>
                </c:pt>
                <c:pt idx="7">
                  <c:v>1500</c:v>
                </c:pt>
                <c:pt idx="8">
                  <c:v>2000</c:v>
                </c:pt>
              </c:strCache>
            </c:strRef>
          </c:cat>
          <c:val>
            <c:numRef>
              <c:f>Sheet1!$G$2:$G$10</c:f>
              <c:numCache>
                <c:formatCode>General</c:formatCode>
                <c:ptCount val="9"/>
                <c:pt idx="0">
                  <c:v>90</c:v>
                </c:pt>
                <c:pt idx="1">
                  <c:v>55</c:v>
                </c:pt>
                <c:pt idx="2">
                  <c:v>35</c:v>
                </c:pt>
                <c:pt idx="3">
                  <c:v>18</c:v>
                </c:pt>
                <c:pt idx="4">
                  <c:v>12</c:v>
                </c:pt>
                <c:pt idx="5">
                  <c:v>8</c:v>
                </c:pt>
                <c:pt idx="6">
                  <c:v>5</c:v>
                </c:pt>
                <c:pt idx="7">
                  <c:v>3</c:v>
                </c:pt>
                <c:pt idx="8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8BBC-4BE5-BDDB-1406E4BBFE7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B2A"/>
                </a:solidFill>
                <a:latin typeface="Arial"/>
              </a:rPr>
              <a:t>Avg Completion Time (≤200 agents)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Completion Time (s)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A9E-486F-8049-35DE99476D92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9E-486F-8049-35DE99476D92}"/>
              </c:ext>
            </c:extLst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9E-486F-8049-35DE99476D92}"/>
              </c:ext>
            </c:extLst>
          </c:dPt>
          <c:dPt>
            <c:idx val="3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A9E-486F-8049-35DE99476D92}"/>
              </c:ext>
            </c:extLst>
          </c:dPt>
          <c:dPt>
            <c:idx val="4"/>
            <c:invertIfNegative val="0"/>
            <c:bubble3D val="0"/>
            <c:spPr>
              <a:solidFill>
                <a:srgbClr val="FB8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A9E-486F-8049-35DE99476D92}"/>
              </c:ext>
            </c:extLst>
          </c:dPt>
          <c:dPt>
            <c:idx val="5"/>
            <c:invertIfNegative val="0"/>
            <c:bubble3D val="0"/>
            <c:spPr>
              <a:solidFill>
                <a:srgbClr val="F725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A9E-486F-8049-35DE99476D9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A*-Replan</c:v>
                </c:pt>
                <c:pt idx="1">
                  <c:v>BMAA*</c:v>
                </c:pt>
                <c:pt idx="2">
                  <c:v>BMAA*-c</c:v>
                </c:pt>
                <c:pt idx="3">
                  <c:v>BMAA*-f</c:v>
                </c:pt>
                <c:pt idx="4">
                  <c:v>BMAA*-f-c</c:v>
                </c:pt>
                <c:pt idx="5">
                  <c:v>FAR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8.1999999999999993</c:v>
                </c:pt>
                <c:pt idx="1">
                  <c:v>3.5</c:v>
                </c:pt>
                <c:pt idx="2">
                  <c:v>6</c:v>
                </c:pt>
                <c:pt idx="3">
                  <c:v>3.4</c:v>
                </c:pt>
                <c:pt idx="4">
                  <c:v>5.5</c:v>
                </c:pt>
                <c:pt idx="5">
                  <c:v>12.3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A9E-486F-8049-35DE99476D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B2A"/>
                </a:solidFill>
                <a:latin typeface="Arial"/>
              </a:rPr>
              <a:t>Avg Travel Distance (≤200 agents)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Travel Distance</c:v>
                </c:pt>
              </c:strCache>
            </c:strRef>
          </c:tx>
          <c:spPr>
            <a:solidFill>
              <a:srgbClr val="0077B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BE7-43E5-B882-229AEDA657DF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E7-43E5-B882-229AEDA657DF}"/>
              </c:ext>
            </c:extLst>
          </c:dPt>
          <c:dPt>
            <c:idx val="2"/>
            <c:invertIfNegative val="0"/>
            <c:bubble3D val="0"/>
            <c:spPr>
              <a:solidFill>
                <a:srgbClr val="06D6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E7-43E5-B882-229AEDA657DF}"/>
              </c:ext>
            </c:extLst>
          </c:dPt>
          <c:dPt>
            <c:idx val="3"/>
            <c:invertIfNegative val="0"/>
            <c:bubble3D val="0"/>
            <c:spPr>
              <a:solidFill>
                <a:srgbClr val="FFD1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BE7-43E5-B882-229AEDA657DF}"/>
              </c:ext>
            </c:extLst>
          </c:dPt>
          <c:dPt>
            <c:idx val="4"/>
            <c:invertIfNegative val="0"/>
            <c:bubble3D val="0"/>
            <c:spPr>
              <a:solidFill>
                <a:srgbClr val="FB8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BBE7-43E5-B882-229AEDA657DF}"/>
              </c:ext>
            </c:extLst>
          </c:dPt>
          <c:dPt>
            <c:idx val="5"/>
            <c:invertIfNegative val="0"/>
            <c:bubble3D val="0"/>
            <c:spPr>
              <a:solidFill>
                <a:srgbClr val="F7258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BBE7-43E5-B882-229AEDA657D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A*-Replan</c:v>
                </c:pt>
                <c:pt idx="1">
                  <c:v>BMAA*</c:v>
                </c:pt>
                <c:pt idx="2">
                  <c:v>BMAA*-c</c:v>
                </c:pt>
                <c:pt idx="3">
                  <c:v>BMAA*-f</c:v>
                </c:pt>
                <c:pt idx="4">
                  <c:v>BMAA*-f-c</c:v>
                </c:pt>
                <c:pt idx="5">
                  <c:v>FAR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666</c:v>
                </c:pt>
                <c:pt idx="1">
                  <c:v>986</c:v>
                </c:pt>
                <c:pt idx="2">
                  <c:v>998</c:v>
                </c:pt>
                <c:pt idx="3">
                  <c:v>1347</c:v>
                </c:pt>
                <c:pt idx="4">
                  <c:v>1371</c:v>
                </c:pt>
                <c:pt idx="5">
                  <c:v>225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BE7-43E5-B882-229AEDA657D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1F6A9-88AB-4DCE-BCE1-0317E66A4ED4}" type="datetimeFigureOut"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59F0D4-32FE-4306-BFC6-7BE2BE8EF18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023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 /><Relationship Id="rId1" Type="http://schemas.openxmlformats.org/officeDocument/2006/relationships/notesMaster" Target="../notesMasters/notesMaster1.xml" 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 /><Relationship Id="rId1" Type="http://schemas.openxmlformats.org/officeDocument/2006/relationships/notesMaster" Target="../notesMasters/notesMaster1.xml" 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 /><Relationship Id="rId1" Type="http://schemas.openxmlformats.org/officeDocument/2006/relationships/notesMaster" Target="../notesMasters/notesMaster1.xml" 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 /><Relationship Id="rId1" Type="http://schemas.openxmlformats.org/officeDocument/2006/relationships/notesMaster" Target="../notesMasters/notesMaster1.xml" 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 /><Relationship Id="rId1" Type="http://schemas.openxmlformats.org/officeDocument/2006/relationships/notesMaster" Target="../notesMasters/notesMaster1.xml" 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2" Type="http://schemas.openxmlformats.org/officeDocument/2006/relationships/notesSlide" Target="../notesSlides/notesSlide17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4.png" 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 /><Relationship Id="rId2" Type="http://schemas.openxmlformats.org/officeDocument/2006/relationships/notesSlide" Target="../notesSlides/notesSlide18.xml" /><Relationship Id="rId1" Type="http://schemas.openxmlformats.org/officeDocument/2006/relationships/slideLayout" Target="../slideLayouts/slideLayout1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 /><Relationship Id="rId1" Type="http://schemas.openxmlformats.org/officeDocument/2006/relationships/slideLayout" Target="../slideLayouts/slideLayout1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 /><Relationship Id="rId1" Type="http://schemas.openxmlformats.org/officeDocument/2006/relationships/slideLayout" Target="../slideLayouts/slideLayout1.xml" 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 /><Relationship Id="rId1" Type="http://schemas.openxmlformats.org/officeDocument/2006/relationships/slideLayout" Target="../slideLayouts/slideLayout1.xml" 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 /><Relationship Id="rId1" Type="http://schemas.openxmlformats.org/officeDocument/2006/relationships/slideLayout" Target="../slideLayouts/slideLayout1.xml" 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 /><Relationship Id="rId1" Type="http://schemas.openxmlformats.org/officeDocument/2006/relationships/slideLayout" Target="../slideLayouts/slideLayout1.xml" 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 /><Relationship Id="rId1" Type="http://schemas.openxmlformats.org/officeDocument/2006/relationships/slideLayout" Target="../slideLayouts/slideLayout1.xml" 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 /><Relationship Id="rId1" Type="http://schemas.openxmlformats.org/officeDocument/2006/relationships/slideLayout" Target="../slideLayouts/slideLayout1.xml" 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 /><Relationship Id="rId1" Type="http://schemas.openxmlformats.org/officeDocument/2006/relationships/slideLayout" Target="../slideLayouts/slideLayout1.xml" 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 /><Relationship Id="rId2" Type="http://schemas.openxmlformats.org/officeDocument/2006/relationships/notesSlide" Target="../notesSlides/notesSlide27.xml" /><Relationship Id="rId1" Type="http://schemas.openxmlformats.org/officeDocument/2006/relationships/slideLayout" Target="../slideLayouts/slideLayout1.xml" 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 /><Relationship Id="rId2" Type="http://schemas.openxmlformats.org/officeDocument/2006/relationships/notesSlide" Target="../notesSlides/notesSlide28.xml" /><Relationship Id="rId1" Type="http://schemas.openxmlformats.org/officeDocument/2006/relationships/slideLayout" Target="../slideLayouts/slideLayout1.xml" /><Relationship Id="rId4" Type="http://schemas.openxmlformats.org/officeDocument/2006/relationships/chart" Target="../charts/chart3.xml" 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 /><Relationship Id="rId1" Type="http://schemas.openxmlformats.org/officeDocument/2006/relationships/slideLayout" Target="../slideLayouts/slideLayout1.xml" 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077B6">
              <a:alpha val="30000"/>
            </a:srgbClr>
          </a:solidFill>
          <a:ln w="12700">
            <a:solidFill>
              <a:srgbClr val="0077B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1903463"/>
            <a:ext cx="2743200" cy="274320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</a:t>
            </a:r>
            <a:endParaRPr lang="en-US" sz="400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Real-Time Heuristic Search</a:t>
            </a:r>
            <a:endParaRPr lang="en-US" sz="3200"/>
          </a:p>
        </p:txBody>
      </p:sp>
      <p:sp>
        <p:nvSpPr>
          <p:cNvPr id="7" name="Shape 5"/>
          <p:cNvSpPr/>
          <p:nvPr/>
        </p:nvSpPr>
        <p:spPr>
          <a:xfrm>
            <a:off x="457200" y="2212848"/>
            <a:ext cx="5486400" cy="36576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377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— Bounded Multi-Agent A*</a:t>
            </a:r>
            <a:endParaRPr lang="en-US" sz="1800"/>
          </a:p>
        </p:txBody>
      </p:sp>
      <p:sp>
        <p:nvSpPr>
          <p:cNvPr id="11" name="Shape 9"/>
          <p:cNvSpPr/>
          <p:nvPr/>
        </p:nvSpPr>
        <p:spPr>
          <a:xfrm>
            <a:off x="172232" y="4740475"/>
            <a:ext cx="8971768" cy="403025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4745736"/>
            <a:ext cx="85953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   Presented for CS5201 Advanced AI  —  IIT Patna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932FBC-C0E8-CED4-9D79-C2F1183488E5}"/>
              </a:ext>
            </a:extLst>
          </p:cNvPr>
          <p:cNvSpPr/>
          <p:nvPr/>
        </p:nvSpPr>
        <p:spPr>
          <a:xfrm>
            <a:off x="457605" y="3273002"/>
            <a:ext cx="3197187" cy="4693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>
                <a:solidFill>
                  <a:srgbClr val="D6EAF8"/>
                </a:solidFill>
                <a:ea typeface="Calibri"/>
                <a:cs typeface="Calibri"/>
              </a:rPr>
              <a:t>MUKESH GUPTA  2511CS10</a:t>
            </a:r>
            <a:endParaRPr lang="en-US" b="1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797ABB-CCEE-414D-F1B3-E955634B10F0}"/>
              </a:ext>
            </a:extLst>
          </p:cNvPr>
          <p:cNvSpPr/>
          <p:nvPr/>
        </p:nvSpPr>
        <p:spPr>
          <a:xfrm>
            <a:off x="3933577" y="3273001"/>
            <a:ext cx="3197187" cy="4693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D6EAF8"/>
                </a:solidFill>
                <a:ea typeface="Calibri"/>
                <a:cs typeface="Calibri"/>
              </a:rPr>
              <a:t>MANISH SINGH 2511AI52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BA4C8B-28D4-EA72-3AA3-FC2E6247118B}"/>
              </a:ext>
            </a:extLst>
          </p:cNvPr>
          <p:cNvSpPr/>
          <p:nvPr/>
        </p:nvSpPr>
        <p:spPr>
          <a:xfrm>
            <a:off x="457604" y="4032391"/>
            <a:ext cx="3197187" cy="4693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D6EAF8"/>
                </a:solidFill>
                <a:ea typeface="+mn-lt"/>
                <a:cs typeface="+mn-lt"/>
              </a:rPr>
              <a:t>KUMAR ARYAN  2511AI01</a:t>
            </a:r>
          </a:p>
          <a:p>
            <a:pPr algn="ctr"/>
            <a:endParaRPr lang="en-US" sz="1100" b="1">
              <a:solidFill>
                <a:srgbClr val="D6EAF8"/>
              </a:solidFill>
              <a:ea typeface="Calibri"/>
              <a:cs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C1A211-0374-AD27-2505-89E413CB3CEF}"/>
              </a:ext>
            </a:extLst>
          </p:cNvPr>
          <p:cNvSpPr/>
          <p:nvPr/>
        </p:nvSpPr>
        <p:spPr>
          <a:xfrm>
            <a:off x="3933577" y="4032391"/>
            <a:ext cx="3197187" cy="469391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100" b="1">
                <a:solidFill>
                  <a:srgbClr val="D6EAF8"/>
                </a:solidFill>
                <a:ea typeface="Calibri"/>
                <a:cs typeface="Calibri"/>
              </a:rPr>
              <a:t>ANUP KUMAR GOND  2511CS01</a:t>
            </a:r>
            <a:endParaRPr lang="en-US" b="1">
              <a:ea typeface="Calibri"/>
              <a:cs typeface="Calibri"/>
            </a:endParaRPr>
          </a:p>
          <a:p>
            <a:pPr algn="ctr"/>
            <a:endParaRPr lang="en-US" sz="1100" b="1">
              <a:solidFill>
                <a:srgbClr val="D6EAF8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4206240" cy="1097280"/>
          </a:xfrm>
          <a:prstGeom prst="rect">
            <a:avLst/>
          </a:prstGeom>
          <a:solidFill>
            <a:srgbClr val="0077B6">
              <a:alpha val="12000"/>
            </a:srgbClr>
          </a:solidFill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502920" cy="10972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86868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/>
          </a:p>
        </p:txBody>
      </p:sp>
      <p:sp>
        <p:nvSpPr>
          <p:cNvPr id="10" name="Text 8"/>
          <p:cNvSpPr/>
          <p:nvPr/>
        </p:nvSpPr>
        <p:spPr>
          <a:xfrm>
            <a:off x="841248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Formulation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841248" y="1344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MAPF? Formal definition &amp; metrics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4709160" y="868680"/>
            <a:ext cx="4206240" cy="1097280"/>
          </a:xfrm>
          <a:prstGeom prst="rect">
            <a:avLst/>
          </a:prstGeom>
          <a:solidFill>
            <a:srgbClr val="7B2D8B">
              <a:alpha val="12000"/>
            </a:srgbClr>
          </a:solidFill>
          <a:ln w="1905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709160" y="868680"/>
            <a:ext cx="502920" cy="109728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868680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5276088" y="960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5276088" y="134416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A*, WHCA*, FAR, Real-Time Heuristic Search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274320" y="2130552"/>
            <a:ext cx="4206240" cy="1097280"/>
          </a:xfrm>
          <a:prstGeom prst="rect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130552"/>
            <a:ext cx="502920" cy="10972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213055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/>
          </a:p>
        </p:txBody>
      </p:sp>
      <p:sp>
        <p:nvSpPr>
          <p:cNvPr id="20" name="Text 18"/>
          <p:cNvSpPr/>
          <p:nvPr/>
        </p:nvSpPr>
        <p:spPr>
          <a:xfrm>
            <a:off x="841248" y="2221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BMAA*</a:t>
            </a:r>
            <a:endParaRPr lang="en-US" sz="1300"/>
          </a:p>
        </p:txBody>
      </p:sp>
      <p:sp>
        <p:nvSpPr>
          <p:cNvPr id="21" name="Text 19"/>
          <p:cNvSpPr/>
          <p:nvPr/>
        </p:nvSpPr>
        <p:spPr>
          <a:xfrm>
            <a:off x="841248" y="2606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algorithm, parameters, pseudocode</a:t>
            </a:r>
            <a:endParaRPr lang="en-US" sz="1050"/>
          </a:p>
        </p:txBody>
      </p:sp>
      <p:sp>
        <p:nvSpPr>
          <p:cNvPr id="22" name="Shape 20"/>
          <p:cNvSpPr/>
          <p:nvPr/>
        </p:nvSpPr>
        <p:spPr>
          <a:xfrm>
            <a:off x="4709160" y="2130552"/>
            <a:ext cx="4206240" cy="1097280"/>
          </a:xfrm>
          <a:prstGeom prst="rect">
            <a:avLst/>
          </a:prstGeom>
          <a:solidFill>
            <a:srgbClr val="06D6A0">
              <a:alpha val="12000"/>
            </a:srgb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709160" y="2130552"/>
            <a:ext cx="502920" cy="109728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09160" y="2130552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/>
          </a:p>
        </p:txBody>
      </p:sp>
      <p:sp>
        <p:nvSpPr>
          <p:cNvPr id="25" name="Text 23"/>
          <p:cNvSpPr/>
          <p:nvPr/>
        </p:nvSpPr>
        <p:spPr>
          <a:xfrm>
            <a:off x="5276088" y="2221992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Examples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5276088" y="26060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visual walkthroughs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274320" y="3392424"/>
            <a:ext cx="4206240" cy="1097280"/>
          </a:xfrm>
          <a:prstGeom prst="rect">
            <a:avLst/>
          </a:prstGeom>
          <a:solidFill>
            <a:srgbClr val="FB8500">
              <a:alpha val="12000"/>
            </a:srgbClr>
          </a:solidFill>
          <a:ln w="1905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92424"/>
            <a:ext cx="502920" cy="109728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392424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/>
          </a:p>
        </p:txBody>
      </p:sp>
      <p:sp>
        <p:nvSpPr>
          <p:cNvPr id="30" name="Text 28"/>
          <p:cNvSpPr/>
          <p:nvPr/>
        </p:nvSpPr>
        <p:spPr>
          <a:xfrm>
            <a:off x="841248" y="34838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&amp; Results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841248" y="38679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rate, time, travel distance</a:t>
            </a:r>
            <a:endParaRPr lang="en-US" sz="1050"/>
          </a:p>
        </p:txBody>
      </p:sp>
      <p:sp>
        <p:nvSpPr>
          <p:cNvPr id="32" name="Shape 30"/>
          <p:cNvSpPr/>
          <p:nvPr/>
        </p:nvSpPr>
        <p:spPr>
          <a:xfrm>
            <a:off x="4709160" y="3392424"/>
            <a:ext cx="4206240" cy="1097280"/>
          </a:xfrm>
          <a:prstGeom prst="rect">
            <a:avLst/>
          </a:prstGeom>
          <a:solidFill>
            <a:srgbClr val="F72585">
              <a:alpha val="12000"/>
            </a:srgbClr>
          </a:solidFill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3392424"/>
            <a:ext cx="502920" cy="109728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3392424"/>
            <a:ext cx="502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5276088" y="3483864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/>
          </a:p>
        </p:txBody>
      </p:sp>
      <p:sp>
        <p:nvSpPr>
          <p:cNvPr id="36" name="Text 34"/>
          <p:cNvSpPr/>
          <p:nvPr/>
        </p:nvSpPr>
        <p:spPr>
          <a:xfrm>
            <a:off x="5276088" y="38679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future directions</a:t>
            </a:r>
            <a:endParaRPr lang="en-US" sz="10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| Problem Formulation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Defining Multi-Agent Pathfinding (MAPF)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| BMAA*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Multi-Agent Pathfinding (MAPF)?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49377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collision-free paths for multiple agents on a known map</a:t>
            </a:r>
            <a:endParaRPr lang="en-US" sz="13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moves from its start location to its goal location</a:t>
            </a:r>
            <a:endParaRPr lang="en-US" sz="13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video games for Non-Player Characters (NPCs)</a:t>
            </a:r>
            <a:endParaRPr lang="en-US" sz="13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StarCraft, Dragon Age, WarCraft III — real-world use cases</a:t>
            </a:r>
            <a:endParaRPr lang="en-US" sz="13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must not swap positions or occupy the same node simultaneously</a:t>
            </a:r>
            <a:endParaRPr lang="en-US" sz="1350"/>
          </a:p>
        </p:txBody>
      </p:sp>
      <p:sp>
        <p:nvSpPr>
          <p:cNvPr id="8" name="Shape 6"/>
          <p:cNvSpPr/>
          <p:nvPr/>
        </p:nvSpPr>
        <p:spPr>
          <a:xfrm>
            <a:off x="5486400" y="82296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870448" y="82296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254496" y="82296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638544" y="82296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022592" y="82296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06640" y="82296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90688" y="82296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174736" y="82296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0" y="120700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70448" y="1207008"/>
            <a:ext cx="365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54496" y="120700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638544" y="120700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22592" y="120700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06640" y="1207008"/>
            <a:ext cx="365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790688" y="120700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174736" y="120700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0" y="159105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70448" y="159105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254496" y="159105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638544" y="1591056"/>
            <a:ext cx="365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022592" y="159105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06640" y="159105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790688" y="159105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174736" y="159105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486400" y="1975104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70448" y="1975104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254496" y="1975104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638544" y="1975104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022592" y="1975104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406640" y="1975104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790688" y="1975104"/>
            <a:ext cx="365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174736" y="1975104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486400" y="2359152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870448" y="2359152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254496" y="2359152"/>
            <a:ext cx="365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638544" y="2359152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022592" y="2359152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406640" y="2359152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790688" y="2359152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8174736" y="2359152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486400" y="274320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870448" y="274320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254496" y="274320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638544" y="274320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022592" y="2743200"/>
            <a:ext cx="365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7406640" y="274320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7790688" y="274320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8174736" y="2743200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486400" y="312724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870448" y="3127248"/>
            <a:ext cx="365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54496" y="312724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638544" y="312724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022592" y="312724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406640" y="3127248"/>
            <a:ext cx="36576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790688" y="312724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174736" y="3127248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486400" y="351129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870448" y="351129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254496" y="351129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6638544" y="351129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022592" y="351129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406640" y="351129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790688" y="351129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8174736" y="3511296"/>
            <a:ext cx="365760" cy="36576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522976" y="859536"/>
            <a:ext cx="292608" cy="292608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486400" y="822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</a:rPr>
              <a:t>A1</a:t>
            </a:r>
            <a:endParaRPr lang="en-US" sz="800"/>
          </a:p>
        </p:txBody>
      </p:sp>
      <p:sp>
        <p:nvSpPr>
          <p:cNvPr id="74" name="Shape 72"/>
          <p:cNvSpPr/>
          <p:nvPr/>
        </p:nvSpPr>
        <p:spPr>
          <a:xfrm>
            <a:off x="7827264" y="859536"/>
            <a:ext cx="292608" cy="292608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7790688" y="822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</a:rPr>
              <a:t>A2</a:t>
            </a:r>
            <a:endParaRPr lang="en-US" sz="800"/>
          </a:p>
        </p:txBody>
      </p:sp>
      <p:sp>
        <p:nvSpPr>
          <p:cNvPr id="76" name="Shape 74"/>
          <p:cNvSpPr/>
          <p:nvPr/>
        </p:nvSpPr>
        <p:spPr>
          <a:xfrm>
            <a:off x="5522976" y="3547872"/>
            <a:ext cx="292608" cy="292608"/>
          </a:xfrm>
          <a:prstGeom prst="ellipse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486400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</a:rPr>
              <a:t>A3</a:t>
            </a:r>
            <a:endParaRPr lang="en-US" sz="800"/>
          </a:p>
        </p:txBody>
      </p:sp>
      <p:sp>
        <p:nvSpPr>
          <p:cNvPr id="78" name="Shape 76"/>
          <p:cNvSpPr/>
          <p:nvPr/>
        </p:nvSpPr>
        <p:spPr>
          <a:xfrm>
            <a:off x="8229600" y="3566160"/>
            <a:ext cx="256032" cy="256032"/>
          </a:xfrm>
          <a:prstGeom prst="rect">
            <a:avLst/>
          </a:prstGeom>
          <a:solidFill>
            <a:srgbClr val="06D6A0">
              <a:alpha val="60000"/>
            </a:srgb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8174736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06D6A0"/>
                </a:solidFill>
              </a:rPr>
              <a:t>G1</a:t>
            </a:r>
            <a:endParaRPr lang="en-US" sz="700"/>
          </a:p>
        </p:txBody>
      </p:sp>
      <p:sp>
        <p:nvSpPr>
          <p:cNvPr id="80" name="Shape 78"/>
          <p:cNvSpPr/>
          <p:nvPr/>
        </p:nvSpPr>
        <p:spPr>
          <a:xfrm>
            <a:off x="5925312" y="3566160"/>
            <a:ext cx="256032" cy="256032"/>
          </a:xfrm>
          <a:prstGeom prst="rect">
            <a:avLst/>
          </a:prstGeom>
          <a:solidFill>
            <a:srgbClr val="FFD166">
              <a:alpha val="60000"/>
            </a:srgbClr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870448" y="3511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FD166"/>
                </a:solidFill>
              </a:rPr>
              <a:t>G2</a:t>
            </a:r>
            <a:endParaRPr lang="en-US" sz="700"/>
          </a:p>
        </p:txBody>
      </p:sp>
      <p:sp>
        <p:nvSpPr>
          <p:cNvPr id="82" name="Shape 80"/>
          <p:cNvSpPr/>
          <p:nvPr/>
        </p:nvSpPr>
        <p:spPr>
          <a:xfrm>
            <a:off x="8229600" y="877824"/>
            <a:ext cx="256032" cy="256032"/>
          </a:xfrm>
          <a:prstGeom prst="rect">
            <a:avLst/>
          </a:prstGeom>
          <a:solidFill>
            <a:srgbClr val="F72585">
              <a:alpha val="60000"/>
            </a:srgbClr>
          </a:solidFill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174736" y="8229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>
                <a:solidFill>
                  <a:srgbClr val="F72585"/>
                </a:solidFill>
              </a:rPr>
              <a:t>G3</a:t>
            </a:r>
            <a:endParaRPr lang="en-US" sz="700"/>
          </a:p>
        </p:txBody>
      </p:sp>
      <p:sp>
        <p:nvSpPr>
          <p:cNvPr id="84" name="Text 82"/>
          <p:cNvSpPr/>
          <p:nvPr/>
        </p:nvSpPr>
        <p:spPr>
          <a:xfrm>
            <a:off x="5394960" y="39776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= Agent   □ = Goal   ■ = Wall</a:t>
            </a:r>
            <a:endParaRPr lang="en-US" sz="900"/>
          </a:p>
        </p:txBody>
      </p:sp>
      <p:sp>
        <p:nvSpPr>
          <p:cNvPr id="85" name="Text 83"/>
          <p:cNvSpPr/>
          <p:nvPr/>
        </p:nvSpPr>
        <p:spPr>
          <a:xfrm>
            <a:off x="5394960" y="4251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8-neighbor grid (Dragon Age: Origins style)</a:t>
            </a:r>
            <a:endParaRPr lang="en-US" sz="9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MAPF Definition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86868" y="4288536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023360" cy="2651760"/>
          </a:xfrm>
          <a:prstGeom prst="rect">
            <a:avLst/>
          </a:prstGeom>
          <a:solidFill>
            <a:srgbClr val="0077B6">
              <a:alpha val="10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 G = (N, E, c)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3749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set of nodes (grid cells)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⊆ N × N = edges between cells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c(e) = edge cost (1 or √2)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Diagonal neighbors: cost √2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Self-loop edges: cost 0 (wait)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8-neighbor rectangular grid</a:t>
            </a:r>
            <a:endParaRPr lang="en-US" sz="1200"/>
          </a:p>
        </p:txBody>
      </p:sp>
      <p:sp>
        <p:nvSpPr>
          <p:cNvPr id="10" name="Shape 8"/>
          <p:cNvSpPr/>
          <p:nvPr/>
        </p:nvSpPr>
        <p:spPr>
          <a:xfrm>
            <a:off x="4754880" y="822960"/>
            <a:ext cx="4023360" cy="2651760"/>
          </a:xfrm>
          <a:prstGeom prst="rect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892040" y="868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 A = {a¹ ... aⁿ}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7490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agent: (nᵢstart, nᵢgoal) pair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advances in discrete steps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node occupied per time step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Collision: swap or same-node move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NPC controller manages moves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waits if path blocked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274320" y="3657600"/>
            <a:ext cx="8503920" cy="1005840"/>
          </a:xfrm>
          <a:prstGeom prst="rect">
            <a:avLst/>
          </a:prstGeom>
          <a:solidFill>
            <a:srgbClr val="0D1B2A">
              <a:alpha val="10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1480" y="3703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320040" y="4041648"/>
            <a:ext cx="2743200" cy="566928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40599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Rate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411480" y="4270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agents at goal when time limit reached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3154680" y="4041648"/>
            <a:ext cx="2743200" cy="566928"/>
          </a:xfrm>
          <a:prstGeom prst="rect">
            <a:avLst/>
          </a:prstGeom>
          <a:solidFill>
            <a:srgbClr val="06D6A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46120" y="40599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Time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3291840" y="16504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step when agent last reached goal</a:t>
            </a:r>
            <a:endParaRPr lang="en-US" sz="900"/>
          </a:p>
        </p:txBody>
      </p:sp>
      <p:sp>
        <p:nvSpPr>
          <p:cNvPr id="21" name="Shape 19"/>
          <p:cNvSpPr/>
          <p:nvPr/>
        </p:nvSpPr>
        <p:spPr>
          <a:xfrm>
            <a:off x="5989320" y="4041648"/>
            <a:ext cx="2743200" cy="566928"/>
          </a:xfrm>
          <a:prstGeom prst="rect">
            <a:avLst/>
          </a:prstGeom>
          <a:solidFill>
            <a:srgbClr val="FFD16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080760" y="405993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Distance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6080760" y="42702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edge costs traversed by agent</a:t>
            </a:r>
            <a:endParaRPr lang="en-US"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| Related Work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 •  WHCA*  •  FAR  •  RTAA*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| BMAA*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— Foundation Algorithm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4114800" cy="393192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8600" y="777240"/>
            <a:ext cx="4114800" cy="2560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80467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365760" y="1069848"/>
            <a:ext cx="3886200" cy="3547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A*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 ← ()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closed ← ∅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open ← {n_curr}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g(n_curr) ← 0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open ≠ ∅ do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open.First() = n_goal then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calculate P;  break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if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 ← open.Pop()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closed.Add(n)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n' ∈ n.GetNeighbors() do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n' ∉ closed then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g(n') &gt; g(n)+c(n,n') then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g(n') ← g(n)+c(n,n')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n'.parent ← 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open.Add(n')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end if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end if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end for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while</a:t>
            </a:r>
            <a:endParaRPr lang="en-US" sz="95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4297680" cy="68580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822960"/>
            <a:ext cx="64008" cy="6858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85039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g(n) + h(n)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709160" y="111556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f-value drives expansion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4572000" y="1572768"/>
            <a:ext cx="4297680" cy="685800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1572768"/>
            <a:ext cx="64008" cy="6858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6002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g(n)</a:t>
            </a:r>
            <a:endParaRPr lang="en-US" sz="1200"/>
          </a:p>
        </p:txBody>
      </p:sp>
      <p:sp>
        <p:nvSpPr>
          <p:cNvPr id="18" name="Text 16"/>
          <p:cNvSpPr/>
          <p:nvPr/>
        </p:nvSpPr>
        <p:spPr>
          <a:xfrm>
            <a:off x="4709160" y="1865376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cheapest path found so far</a:t>
            </a:r>
            <a:endParaRPr lang="en-US" sz="1050"/>
          </a:p>
        </p:txBody>
      </p:sp>
      <p:sp>
        <p:nvSpPr>
          <p:cNvPr id="19" name="Shape 17"/>
          <p:cNvSpPr/>
          <p:nvPr/>
        </p:nvSpPr>
        <p:spPr>
          <a:xfrm>
            <a:off x="4572000" y="2322576"/>
            <a:ext cx="4297680" cy="685800"/>
          </a:xfrm>
          <a:prstGeom prst="rect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2322576"/>
            <a:ext cx="64008" cy="68580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709160" y="23500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h(n)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4709160" y="2615184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estimate to goal (octile distance)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4572000" y="3072384"/>
            <a:ext cx="4297680" cy="685800"/>
          </a:xfrm>
          <a:prstGeom prst="rect">
            <a:avLst/>
          </a:prstGeom>
          <a:solidFill>
            <a:srgbClr val="FB8500">
              <a:alpha val="18000"/>
            </a:srgbClr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572000" y="3072384"/>
            <a:ext cx="64008" cy="68580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09160" y="309981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 List</a:t>
            </a:r>
            <a:endParaRPr lang="en-US" sz="1200"/>
          </a:p>
        </p:txBody>
      </p:sp>
      <p:sp>
        <p:nvSpPr>
          <p:cNvPr id="26" name="Text 24"/>
          <p:cNvSpPr/>
          <p:nvPr/>
        </p:nvSpPr>
        <p:spPr>
          <a:xfrm>
            <a:off x="4709160" y="3364992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to be expanded (priority queue)</a:t>
            </a:r>
            <a:endParaRPr lang="en-US" sz="1050"/>
          </a:p>
        </p:txBody>
      </p:sp>
      <p:sp>
        <p:nvSpPr>
          <p:cNvPr id="27" name="Shape 25"/>
          <p:cNvSpPr/>
          <p:nvPr/>
        </p:nvSpPr>
        <p:spPr>
          <a:xfrm>
            <a:off x="4572000" y="3822192"/>
            <a:ext cx="4297680" cy="685800"/>
          </a:xfrm>
          <a:prstGeom prst="rect">
            <a:avLst/>
          </a:prstGeom>
          <a:solidFill>
            <a:srgbClr val="0077B6">
              <a:alpha val="18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0" y="3822192"/>
            <a:ext cx="64008" cy="68580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384962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Closed List</a:t>
            </a:r>
            <a:endParaRPr lang="en-US" sz="1200"/>
          </a:p>
        </p:txBody>
      </p:sp>
      <p:sp>
        <p:nvSpPr>
          <p:cNvPr id="30" name="Text 28"/>
          <p:cNvSpPr/>
          <p:nvPr/>
        </p:nvSpPr>
        <p:spPr>
          <a:xfrm>
            <a:off x="4709160" y="41148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expanded nodes</a:t>
            </a:r>
            <a:endParaRPr lang="en-US" sz="1050"/>
          </a:p>
        </p:txBody>
      </p:sp>
      <p:pic>
        <p:nvPicPr>
          <p:cNvPr id="31" name="Picture 30" descr="A screenshot of a math program&#10;&#10;AI-generated content may be incorrect.">
            <a:extLst>
              <a:ext uri="{FF2B5EF4-FFF2-40B4-BE49-F238E27FC236}">
                <a16:creationId xmlns:a16="http://schemas.microsoft.com/office/drawing/2014/main" id="{C000E5A1-E19F-2CD2-55DF-85CE7E438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783" y="743732"/>
            <a:ext cx="4112262" cy="41022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— Visual Working Example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630936" cy="630936"/>
          </a:xfrm>
          <a:prstGeom prst="rect">
            <a:avLst/>
          </a:prstGeom>
          <a:solidFill>
            <a:srgbClr val="06D6A0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822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0D1B2A"/>
                </a:solidFill>
              </a:rPr>
              <a:t>S</a:t>
            </a:r>
            <a:endParaRPr lang="en-US" sz="1600"/>
          </a:p>
        </p:txBody>
      </p:sp>
      <p:sp>
        <p:nvSpPr>
          <p:cNvPr id="9" name="Shape 7"/>
          <p:cNvSpPr/>
          <p:nvPr/>
        </p:nvSpPr>
        <p:spPr>
          <a:xfrm>
            <a:off x="978408" y="822960"/>
            <a:ext cx="630936" cy="630936"/>
          </a:xfrm>
          <a:prstGeom prst="rect">
            <a:avLst/>
          </a:prstGeom>
          <a:solidFill>
            <a:srgbClr val="90E0EF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8408" y="822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D1B2A"/>
                </a:solidFill>
              </a:rPr>
              <a:t>1+3=4</a:t>
            </a:r>
            <a:endParaRPr lang="en-US" sz="750"/>
          </a:p>
        </p:txBody>
      </p:sp>
      <p:sp>
        <p:nvSpPr>
          <p:cNvPr id="11" name="Shape 9"/>
          <p:cNvSpPr/>
          <p:nvPr/>
        </p:nvSpPr>
        <p:spPr>
          <a:xfrm>
            <a:off x="1636776" y="822960"/>
            <a:ext cx="630936" cy="630936"/>
          </a:xfrm>
          <a:prstGeom prst="rect">
            <a:avLst/>
          </a:prstGeom>
          <a:solidFill>
            <a:srgbClr val="90E0EF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36776" y="822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D1B2A"/>
                </a:solidFill>
              </a:rPr>
              <a:t>2+2=4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2295144" y="822960"/>
            <a:ext cx="630936" cy="630936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953512" y="822960"/>
            <a:ext cx="630936" cy="630936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1481328"/>
            <a:ext cx="630936" cy="630936"/>
          </a:xfrm>
          <a:prstGeom prst="rect">
            <a:avLst/>
          </a:prstGeom>
          <a:solidFill>
            <a:srgbClr val="90E0EF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D1B2A"/>
                </a:solidFill>
              </a:rPr>
              <a:t>1+4=5</a:t>
            </a:r>
            <a:endParaRPr lang="en-US" sz="750"/>
          </a:p>
        </p:txBody>
      </p:sp>
      <p:sp>
        <p:nvSpPr>
          <p:cNvPr id="17" name="Shape 15"/>
          <p:cNvSpPr/>
          <p:nvPr/>
        </p:nvSpPr>
        <p:spPr>
          <a:xfrm>
            <a:off x="978408" y="1481328"/>
            <a:ext cx="630936" cy="630936"/>
          </a:xfrm>
          <a:prstGeom prst="rect">
            <a:avLst/>
          </a:prstGeom>
          <a:solidFill>
            <a:srgbClr val="1E293B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78408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■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1636776" y="1481328"/>
            <a:ext cx="630936" cy="630936"/>
          </a:xfrm>
          <a:prstGeom prst="rect">
            <a:avLst/>
          </a:prstGeom>
          <a:solidFill>
            <a:srgbClr val="1E293B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636776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■</a:t>
            </a:r>
            <a:endParaRPr lang="en-US" sz="1400"/>
          </a:p>
        </p:txBody>
      </p:sp>
      <p:sp>
        <p:nvSpPr>
          <p:cNvPr id="21" name="Shape 19"/>
          <p:cNvSpPr/>
          <p:nvPr/>
        </p:nvSpPr>
        <p:spPr>
          <a:xfrm>
            <a:off x="2295144" y="1481328"/>
            <a:ext cx="630936" cy="630936"/>
          </a:xfrm>
          <a:prstGeom prst="rect">
            <a:avLst/>
          </a:prstGeom>
          <a:solidFill>
            <a:srgbClr val="ADE8F4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95144" y="1481328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D1B2A"/>
                </a:solidFill>
              </a:rPr>
              <a:t>4+2=6</a:t>
            </a:r>
            <a:endParaRPr lang="en-US" sz="750"/>
          </a:p>
        </p:txBody>
      </p:sp>
      <p:sp>
        <p:nvSpPr>
          <p:cNvPr id="23" name="Shape 21"/>
          <p:cNvSpPr/>
          <p:nvPr/>
        </p:nvSpPr>
        <p:spPr>
          <a:xfrm>
            <a:off x="2953512" y="1481328"/>
            <a:ext cx="630936" cy="630936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2139696"/>
            <a:ext cx="630936" cy="630936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78408" y="2139696"/>
            <a:ext cx="630936" cy="630936"/>
          </a:xfrm>
          <a:prstGeom prst="rect">
            <a:avLst/>
          </a:prstGeom>
          <a:solidFill>
            <a:srgbClr val="1E293B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78408" y="21396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■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1636776" y="2139696"/>
            <a:ext cx="630936" cy="630936"/>
          </a:xfrm>
          <a:prstGeom prst="rect">
            <a:avLst/>
          </a:prstGeom>
          <a:solidFill>
            <a:srgbClr val="ADE8F4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636776" y="21396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D1B2A"/>
                </a:solidFill>
              </a:rPr>
              <a:t>3+2=5</a:t>
            </a:r>
            <a:endParaRPr lang="en-US" sz="750"/>
          </a:p>
        </p:txBody>
      </p:sp>
      <p:sp>
        <p:nvSpPr>
          <p:cNvPr id="29" name="Shape 27"/>
          <p:cNvSpPr/>
          <p:nvPr/>
        </p:nvSpPr>
        <p:spPr>
          <a:xfrm>
            <a:off x="2295144" y="2139696"/>
            <a:ext cx="630936" cy="630936"/>
          </a:xfrm>
          <a:prstGeom prst="rect">
            <a:avLst/>
          </a:prstGeom>
          <a:solidFill>
            <a:srgbClr val="ADE8F4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295144" y="2139696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D1B2A"/>
                </a:solidFill>
              </a:rPr>
              <a:t>4+1=5</a:t>
            </a:r>
            <a:endParaRPr lang="en-US" sz="750"/>
          </a:p>
        </p:txBody>
      </p:sp>
      <p:sp>
        <p:nvSpPr>
          <p:cNvPr id="31" name="Shape 29"/>
          <p:cNvSpPr/>
          <p:nvPr/>
        </p:nvSpPr>
        <p:spPr>
          <a:xfrm>
            <a:off x="2953512" y="2139696"/>
            <a:ext cx="630936" cy="630936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20040" y="2798064"/>
            <a:ext cx="630936" cy="630936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978408" y="2798064"/>
            <a:ext cx="630936" cy="630936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1636776" y="2798064"/>
            <a:ext cx="630936" cy="630936"/>
          </a:xfrm>
          <a:prstGeom prst="rect">
            <a:avLst/>
          </a:prstGeom>
          <a:solidFill>
            <a:srgbClr val="48CAE4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636776" y="27980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D1B2A"/>
                </a:solidFill>
              </a:rPr>
              <a:t>4+1=5</a:t>
            </a:r>
            <a:endParaRPr lang="en-US" sz="750"/>
          </a:p>
        </p:txBody>
      </p:sp>
      <p:sp>
        <p:nvSpPr>
          <p:cNvPr id="36" name="Shape 34"/>
          <p:cNvSpPr/>
          <p:nvPr/>
        </p:nvSpPr>
        <p:spPr>
          <a:xfrm>
            <a:off x="2295144" y="2798064"/>
            <a:ext cx="630936" cy="630936"/>
          </a:xfrm>
          <a:prstGeom prst="rect">
            <a:avLst/>
          </a:prstGeom>
          <a:solidFill>
            <a:srgbClr val="1E293B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295144" y="27980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■</a:t>
            </a:r>
            <a:endParaRPr lang="en-US" sz="1400"/>
          </a:p>
        </p:txBody>
      </p:sp>
      <p:sp>
        <p:nvSpPr>
          <p:cNvPr id="38" name="Shape 36"/>
          <p:cNvSpPr/>
          <p:nvPr/>
        </p:nvSpPr>
        <p:spPr>
          <a:xfrm>
            <a:off x="2953512" y="2798064"/>
            <a:ext cx="630936" cy="630936"/>
          </a:xfrm>
          <a:prstGeom prst="rect">
            <a:avLst/>
          </a:prstGeom>
          <a:solidFill>
            <a:srgbClr val="1E293B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953512" y="2798064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</a:rPr>
              <a:t>■</a:t>
            </a:r>
            <a:endParaRPr lang="en-US" sz="1400"/>
          </a:p>
        </p:txBody>
      </p:sp>
      <p:sp>
        <p:nvSpPr>
          <p:cNvPr id="40" name="Shape 38"/>
          <p:cNvSpPr/>
          <p:nvPr/>
        </p:nvSpPr>
        <p:spPr>
          <a:xfrm>
            <a:off x="320040" y="3456432"/>
            <a:ext cx="630936" cy="630936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978408" y="3456432"/>
            <a:ext cx="630936" cy="630936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636776" y="3456432"/>
            <a:ext cx="630936" cy="630936"/>
          </a:xfrm>
          <a:prstGeom prst="rect">
            <a:avLst/>
          </a:prstGeom>
          <a:solidFill>
            <a:srgbClr val="DBEAFE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2295144" y="3456432"/>
            <a:ext cx="630936" cy="630936"/>
          </a:xfrm>
          <a:prstGeom prst="rect">
            <a:avLst/>
          </a:prstGeom>
          <a:solidFill>
            <a:srgbClr val="48CAE4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295144" y="3456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>
                <a:solidFill>
                  <a:srgbClr val="0D1B2A"/>
                </a:solidFill>
              </a:rPr>
              <a:t>6+1=7</a:t>
            </a:r>
            <a:endParaRPr lang="en-US" sz="750"/>
          </a:p>
        </p:txBody>
      </p:sp>
      <p:sp>
        <p:nvSpPr>
          <p:cNvPr id="45" name="Shape 43"/>
          <p:cNvSpPr/>
          <p:nvPr/>
        </p:nvSpPr>
        <p:spPr>
          <a:xfrm>
            <a:off x="2953512" y="3456432"/>
            <a:ext cx="630936" cy="630936"/>
          </a:xfrm>
          <a:prstGeom prst="rect">
            <a:avLst/>
          </a:prstGeom>
          <a:solidFill>
            <a:srgbClr val="F72585"/>
          </a:solidFill>
          <a:ln w="1016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953512" y="345643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</a:rPr>
              <a:t>G</a:t>
            </a:r>
            <a:endParaRPr lang="en-US" sz="1600"/>
          </a:p>
        </p:txBody>
      </p:sp>
      <p:sp>
        <p:nvSpPr>
          <p:cNvPr id="47" name="Shape 45"/>
          <p:cNvSpPr/>
          <p:nvPr/>
        </p:nvSpPr>
        <p:spPr>
          <a:xfrm>
            <a:off x="649224" y="1152144"/>
            <a:ext cx="658368" cy="0"/>
          </a:xfrm>
          <a:prstGeom prst="line">
            <a:avLst/>
          </a:prstGeom>
          <a:noFill/>
          <a:ln w="317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307592" y="1152144"/>
            <a:ext cx="658368" cy="0"/>
          </a:xfrm>
          <a:prstGeom prst="line">
            <a:avLst/>
          </a:prstGeom>
          <a:noFill/>
          <a:ln w="317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965960" y="1152144"/>
            <a:ext cx="658368" cy="658368"/>
          </a:xfrm>
          <a:prstGeom prst="line">
            <a:avLst/>
          </a:prstGeom>
          <a:noFill/>
          <a:ln w="317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624328" y="1810512"/>
            <a:ext cx="0" cy="658368"/>
          </a:xfrm>
          <a:prstGeom prst="line">
            <a:avLst/>
          </a:prstGeom>
          <a:noFill/>
          <a:ln w="317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2624328" y="2468880"/>
            <a:ext cx="0" cy="658368"/>
          </a:xfrm>
          <a:prstGeom prst="line">
            <a:avLst/>
          </a:prstGeom>
          <a:noFill/>
          <a:ln w="317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1965960" y="3127248"/>
            <a:ext cx="658368" cy="658368"/>
          </a:xfrm>
          <a:prstGeom prst="line">
            <a:avLst/>
          </a:prstGeom>
          <a:noFill/>
          <a:ln w="317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2624328" y="3785616"/>
            <a:ext cx="658368" cy="0"/>
          </a:xfrm>
          <a:prstGeom prst="line">
            <a:avLst/>
          </a:prstGeom>
          <a:noFill/>
          <a:ln w="317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840480" y="8412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300"/>
          </a:p>
        </p:txBody>
      </p:sp>
      <p:sp>
        <p:nvSpPr>
          <p:cNvPr id="55" name="Shape 53"/>
          <p:cNvSpPr/>
          <p:nvPr/>
        </p:nvSpPr>
        <p:spPr>
          <a:xfrm>
            <a:off x="3840480" y="1207008"/>
            <a:ext cx="292608" cy="292608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206240" y="120700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node</a:t>
            </a:r>
            <a:endParaRPr lang="en-US" sz="1100"/>
          </a:p>
        </p:txBody>
      </p:sp>
      <p:sp>
        <p:nvSpPr>
          <p:cNvPr id="57" name="Shape 55"/>
          <p:cNvSpPr/>
          <p:nvPr/>
        </p:nvSpPr>
        <p:spPr>
          <a:xfrm>
            <a:off x="3840480" y="1682496"/>
            <a:ext cx="292608" cy="292608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206240" y="1682496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node</a:t>
            </a:r>
            <a:endParaRPr lang="en-US" sz="1100"/>
          </a:p>
        </p:txBody>
      </p:sp>
      <p:sp>
        <p:nvSpPr>
          <p:cNvPr id="59" name="Shape 57"/>
          <p:cNvSpPr/>
          <p:nvPr/>
        </p:nvSpPr>
        <p:spPr>
          <a:xfrm>
            <a:off x="3840480" y="2157984"/>
            <a:ext cx="292608" cy="292608"/>
          </a:xfrm>
          <a:prstGeom prst="rect">
            <a:avLst/>
          </a:prstGeom>
          <a:solidFill>
            <a:srgbClr val="90E0E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206240" y="2157984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expansion</a:t>
            </a:r>
            <a:endParaRPr lang="en-US" sz="1100"/>
          </a:p>
        </p:txBody>
      </p:sp>
      <p:sp>
        <p:nvSpPr>
          <p:cNvPr id="61" name="Shape 59"/>
          <p:cNvSpPr/>
          <p:nvPr/>
        </p:nvSpPr>
        <p:spPr>
          <a:xfrm>
            <a:off x="3840480" y="2633472"/>
            <a:ext cx="292608" cy="292608"/>
          </a:xfrm>
          <a:prstGeom prst="rect">
            <a:avLst/>
          </a:prstGeom>
          <a:solidFill>
            <a:srgbClr val="ADE8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206240" y="26334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expansion</a:t>
            </a:r>
            <a:endParaRPr lang="en-US" sz="1100"/>
          </a:p>
        </p:txBody>
      </p:sp>
      <p:sp>
        <p:nvSpPr>
          <p:cNvPr id="63" name="Shape 61"/>
          <p:cNvSpPr/>
          <p:nvPr/>
        </p:nvSpPr>
        <p:spPr>
          <a:xfrm>
            <a:off x="3840480" y="3108960"/>
            <a:ext cx="292608" cy="292608"/>
          </a:xfrm>
          <a:prstGeom prst="rect">
            <a:avLst/>
          </a:prstGeom>
          <a:solidFill>
            <a:srgbClr val="48CAE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206240" y="3108960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expansion</a:t>
            </a:r>
            <a:endParaRPr lang="en-US" sz="1100"/>
          </a:p>
        </p:txBody>
      </p:sp>
      <p:sp>
        <p:nvSpPr>
          <p:cNvPr id="65" name="Shape 63"/>
          <p:cNvSpPr/>
          <p:nvPr/>
        </p:nvSpPr>
        <p:spPr>
          <a:xfrm>
            <a:off x="3840480" y="3584448"/>
            <a:ext cx="292608" cy="2926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206240" y="3584448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 obstacle</a:t>
            </a:r>
            <a:endParaRPr lang="en-US" sz="1100"/>
          </a:p>
        </p:txBody>
      </p:sp>
      <p:sp>
        <p:nvSpPr>
          <p:cNvPr id="67" name="Shape 65"/>
          <p:cNvSpPr/>
          <p:nvPr/>
        </p:nvSpPr>
        <p:spPr>
          <a:xfrm>
            <a:off x="6583680" y="822960"/>
            <a:ext cx="2331720" cy="3886200"/>
          </a:xfrm>
          <a:prstGeom prst="rect">
            <a:avLst/>
          </a:prstGeom>
          <a:solidFill>
            <a:srgbClr val="0D1B2A">
              <a:alpha val="12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6629400" y="84124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 Order</a:t>
            </a:r>
            <a:endParaRPr lang="en-US" sz="1200"/>
          </a:p>
        </p:txBody>
      </p:sp>
      <p:sp>
        <p:nvSpPr>
          <p:cNvPr id="69" name="Text 67"/>
          <p:cNvSpPr/>
          <p:nvPr/>
        </p:nvSpPr>
        <p:spPr>
          <a:xfrm>
            <a:off x="6629400" y="123444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Start S: f=0+5=5</a:t>
            </a:r>
            <a:endParaRPr lang="en-US" sz="950"/>
          </a:p>
        </p:txBody>
      </p:sp>
      <p:sp>
        <p:nvSpPr>
          <p:cNvPr id="70" name="Text 68"/>
          <p:cNvSpPr/>
          <p:nvPr/>
        </p:nvSpPr>
        <p:spPr>
          <a:xfrm>
            <a:off x="6629400" y="165506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(0,1): f=1+4=5</a:t>
            </a:r>
            <a:endParaRPr lang="en-US" sz="950"/>
          </a:p>
        </p:txBody>
      </p:sp>
      <p:sp>
        <p:nvSpPr>
          <p:cNvPr id="71" name="Text 69"/>
          <p:cNvSpPr/>
          <p:nvPr/>
        </p:nvSpPr>
        <p:spPr>
          <a:xfrm>
            <a:off x="6629400" y="207568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(0,2): f=2+3=5</a:t>
            </a:r>
            <a:endParaRPr lang="en-US" sz="950"/>
          </a:p>
        </p:txBody>
      </p:sp>
      <p:sp>
        <p:nvSpPr>
          <p:cNvPr id="72" name="Text 70"/>
          <p:cNvSpPr/>
          <p:nvPr/>
        </p:nvSpPr>
        <p:spPr>
          <a:xfrm>
            <a:off x="6629400" y="2496312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(1,3): f=4+2=6</a:t>
            </a:r>
            <a:endParaRPr lang="en-US" sz="950"/>
          </a:p>
        </p:txBody>
      </p:sp>
      <p:sp>
        <p:nvSpPr>
          <p:cNvPr id="73" name="Text 71"/>
          <p:cNvSpPr/>
          <p:nvPr/>
        </p:nvSpPr>
        <p:spPr>
          <a:xfrm>
            <a:off x="6629400" y="2916936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(2,3): f=5+1=6</a:t>
            </a:r>
            <a:endParaRPr lang="en-US" sz="950"/>
          </a:p>
        </p:txBody>
      </p:sp>
      <p:sp>
        <p:nvSpPr>
          <p:cNvPr id="74" name="Text 72"/>
          <p:cNvSpPr/>
          <p:nvPr/>
        </p:nvSpPr>
        <p:spPr>
          <a:xfrm>
            <a:off x="6629400" y="3337560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(3,2): f=6+1=7</a:t>
            </a:r>
            <a:endParaRPr lang="en-US" sz="950"/>
          </a:p>
        </p:txBody>
      </p:sp>
      <p:sp>
        <p:nvSpPr>
          <p:cNvPr id="75" name="Text 73"/>
          <p:cNvSpPr/>
          <p:nvPr/>
        </p:nvSpPr>
        <p:spPr>
          <a:xfrm>
            <a:off x="6629400" y="3758184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(4,3): f=7+1=8</a:t>
            </a:r>
            <a:endParaRPr lang="en-US" sz="950"/>
          </a:p>
        </p:txBody>
      </p:sp>
      <p:sp>
        <p:nvSpPr>
          <p:cNvPr id="76" name="Text 74"/>
          <p:cNvSpPr/>
          <p:nvPr/>
        </p:nvSpPr>
        <p:spPr>
          <a:xfrm>
            <a:off x="6629400" y="4178808"/>
            <a:ext cx="2240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Goal G reached!</a:t>
            </a:r>
            <a:endParaRPr lang="en-US" sz="9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MAPF Algorithms — WHCA* &amp; FAR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3474720"/>
          </a:xfrm>
          <a:prstGeom prst="rect">
            <a:avLst/>
          </a:prstGeom>
          <a:solidFill>
            <a:srgbClr val="7B2D8B">
              <a:alpha val="10000"/>
            </a:srgbClr>
          </a:solidFill>
          <a:ln w="1905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114800" cy="411480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804672"/>
            <a:ext cx="3968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WHCA* — Windowed Hierarchical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Cooperative A*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paths for next W moves (window)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table adds time dimension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searches (3D space-time)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Ignores collisions beyond window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complete NPC control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must be large → slow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754880" y="804672"/>
            <a:ext cx="4114800" cy="3474720"/>
          </a:xfrm>
          <a:prstGeom prst="rect">
            <a:avLst/>
          </a:prstGeom>
          <a:solidFill>
            <a:srgbClr val="0077B6">
              <a:alpha val="10000"/>
            </a:srgbClr>
          </a:solidFill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804672"/>
            <a:ext cx="4114800" cy="4114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804672"/>
            <a:ext cx="396849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— Flow Annotated Replanning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4846320" y="1261872"/>
            <a:ext cx="39319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table (no time dimension)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annotations = one-way streets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wait for blocked moves to clear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 breaking via goal-pushing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still get stuck sometimes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travel distances but poor scaling</a:t>
            </a:r>
            <a:endParaRPr lang="en-US" sz="1200"/>
          </a:p>
        </p:txBody>
      </p:sp>
      <p:sp>
        <p:nvSpPr>
          <p:cNvPr id="15" name="Shape 13"/>
          <p:cNvSpPr/>
          <p:nvPr/>
        </p:nvSpPr>
        <p:spPr>
          <a:xfrm>
            <a:off x="274320" y="4434840"/>
            <a:ext cx="8595360" cy="347472"/>
          </a:xfrm>
          <a:prstGeom prst="rect">
            <a:avLst/>
          </a:prstGeom>
          <a:solidFill>
            <a:srgbClr val="FB85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445312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Both are non-real-time: must find complete paths before any agent moves — too slow for large-scale games!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— Flow Annotations Explained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undirected graph DIRECTED (one-way streets)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1: westbound  →  Row 2: eastbound  →  alternating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 1: northbound  →  Col 2: southbound  →  alternating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Sink/source nodes get diagonal edges added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Corridor edges remain undirected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head-to-head agent collisions</a:t>
            </a:r>
            <a:endParaRPr lang="en-US" sz="12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node still reachable from all original nodes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4846320" y="822960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68112" y="822960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742432" y="1115568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89904" y="822960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64224" y="1115568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711696" y="822960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986016" y="1115568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333488" y="822960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607808" y="1115568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1444752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901184" y="1737360"/>
            <a:ext cx="25603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468112" y="1444752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22976" y="1737360"/>
            <a:ext cx="25603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089904" y="1444752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44768" y="1737360"/>
            <a:ext cx="25603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711696" y="1444752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766560" y="1737360"/>
            <a:ext cx="25603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33488" y="1444752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846320" y="2066544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68112" y="2066544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742432" y="2359152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89904" y="2066544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364224" y="2359152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11696" y="2066544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86016" y="2359152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33488" y="2066544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607808" y="2359152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2688336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4901184" y="2980944"/>
            <a:ext cx="25603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468112" y="2688336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522976" y="2980944"/>
            <a:ext cx="25603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89904" y="2688336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144768" y="2980944"/>
            <a:ext cx="25603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711696" y="2688336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766560" y="2980944"/>
            <a:ext cx="256032" cy="0"/>
          </a:xfrm>
          <a:prstGeom prst="line">
            <a:avLst/>
          </a:prstGeom>
          <a:noFill/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7333488" y="2688336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846320" y="3310128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468112" y="3310128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742432" y="3602736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089904" y="3310128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364224" y="3602736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711696" y="3310128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986016" y="3602736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333488" y="3310128"/>
            <a:ext cx="585216" cy="58521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607808" y="3602736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138928" y="1115568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138928" y="1737360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138928" y="2359152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138928" y="2980944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760720" y="877824"/>
            <a:ext cx="0" cy="201168"/>
          </a:xfrm>
          <a:prstGeom prst="line">
            <a:avLst/>
          </a:prstGeom>
          <a:noFill/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5760720" y="1499616"/>
            <a:ext cx="0" cy="201168"/>
          </a:xfrm>
          <a:prstGeom prst="line">
            <a:avLst/>
          </a:prstGeom>
          <a:noFill/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5760720" y="2121408"/>
            <a:ext cx="0" cy="201168"/>
          </a:xfrm>
          <a:prstGeom prst="line">
            <a:avLst/>
          </a:prstGeom>
          <a:noFill/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5760720" y="2743200"/>
            <a:ext cx="0" cy="201168"/>
          </a:xfrm>
          <a:prstGeom prst="line">
            <a:avLst/>
          </a:prstGeom>
          <a:noFill/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6382512" y="1115568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382512" y="1737360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382512" y="2359152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382512" y="2980944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004304" y="877824"/>
            <a:ext cx="0" cy="201168"/>
          </a:xfrm>
          <a:prstGeom prst="line">
            <a:avLst/>
          </a:prstGeom>
          <a:noFill/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004304" y="1499616"/>
            <a:ext cx="0" cy="201168"/>
          </a:xfrm>
          <a:prstGeom prst="line">
            <a:avLst/>
          </a:prstGeom>
          <a:noFill/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004304" y="2121408"/>
            <a:ext cx="0" cy="201168"/>
          </a:xfrm>
          <a:prstGeom prst="line">
            <a:avLst/>
          </a:prstGeom>
          <a:noFill/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7004304" y="2743200"/>
            <a:ext cx="0" cy="201168"/>
          </a:xfrm>
          <a:prstGeom prst="line">
            <a:avLst/>
          </a:prstGeom>
          <a:noFill/>
          <a:ln w="1524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7626096" y="1115568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7626096" y="1737360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7626096" y="2359152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7626096" y="2980944"/>
            <a:ext cx="0" cy="0"/>
          </a:xfrm>
          <a:prstGeom prst="line">
            <a:avLst/>
          </a:prstGeom>
          <a:noFill/>
          <a:ln w="1524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4846320" y="39776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Flow Direction Legend:</a:t>
            </a:r>
            <a:endParaRPr lang="en-US" sz="1000"/>
          </a:p>
        </p:txBody>
      </p:sp>
      <p:sp>
        <p:nvSpPr>
          <p:cNvPr id="74" name="Shape 72"/>
          <p:cNvSpPr/>
          <p:nvPr/>
        </p:nvSpPr>
        <p:spPr>
          <a:xfrm>
            <a:off x="4846320" y="4279392"/>
            <a:ext cx="164592" cy="164592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5074920" y="426110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West (even rows)</a:t>
            </a:r>
            <a:endParaRPr lang="en-US" sz="900"/>
          </a:p>
        </p:txBody>
      </p:sp>
      <p:sp>
        <p:nvSpPr>
          <p:cNvPr id="76" name="Shape 74"/>
          <p:cNvSpPr/>
          <p:nvPr/>
        </p:nvSpPr>
        <p:spPr>
          <a:xfrm>
            <a:off x="6858000" y="4279392"/>
            <a:ext cx="164592" cy="164592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7086600" y="426110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East (odd rows)</a:t>
            </a:r>
            <a:endParaRPr lang="en-US" sz="900"/>
          </a:p>
        </p:txBody>
      </p:sp>
      <p:sp>
        <p:nvSpPr>
          <p:cNvPr id="78" name="Shape 76"/>
          <p:cNvSpPr/>
          <p:nvPr/>
        </p:nvSpPr>
        <p:spPr>
          <a:xfrm>
            <a:off x="4846320" y="4507992"/>
            <a:ext cx="164592" cy="164592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074920" y="448970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North (even cols)</a:t>
            </a:r>
            <a:endParaRPr lang="en-US" sz="900"/>
          </a:p>
        </p:txBody>
      </p:sp>
      <p:sp>
        <p:nvSpPr>
          <p:cNvPr id="80" name="Shape 78"/>
          <p:cNvSpPr/>
          <p:nvPr/>
        </p:nvSpPr>
        <p:spPr>
          <a:xfrm>
            <a:off x="6858000" y="4507992"/>
            <a:ext cx="164592" cy="164592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086600" y="4489704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South (odd cols)</a:t>
            </a:r>
            <a:endParaRPr lang="en-US" sz="9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Heuristic Search (RTHS)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502920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32104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RTHS performs a CONSTANT amount of search per move — regardless of map size or distance to goal</a:t>
            </a:r>
            <a:endParaRPr lang="en-US" sz="125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2788920" cy="3246120"/>
          </a:xfrm>
          <a:prstGeom prst="rect">
            <a:avLst/>
          </a:prstGeom>
          <a:solidFill>
            <a:srgbClr val="00B4D8">
              <a:alpha val="12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27889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47472" y="14356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RTHS?</a:t>
            </a:r>
            <a:endParaRPr lang="en-US" sz="1300"/>
          </a:p>
        </p:txBody>
      </p:sp>
      <p:sp>
        <p:nvSpPr>
          <p:cNvPr id="12" name="Text 10"/>
          <p:cNvSpPr/>
          <p:nvPr/>
        </p:nvSpPr>
        <p:spPr>
          <a:xfrm>
            <a:off x="365760" y="1828800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NPC starts moving immediately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search loss on re-tasking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map preprocessing needed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dynamic environments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88920" cy="3246120"/>
          </a:xfrm>
          <a:prstGeom prst="rect">
            <a:avLst/>
          </a:prstGeom>
          <a:solidFill>
            <a:srgbClr val="06D6A0">
              <a:alpha val="12000"/>
            </a:srgb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00400" y="1417320"/>
            <a:ext cx="2788920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73552" y="14356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/>
          </a:p>
        </p:txBody>
      </p:sp>
      <p:sp>
        <p:nvSpPr>
          <p:cNvPr id="16" name="Text 14"/>
          <p:cNvSpPr/>
          <p:nvPr/>
        </p:nvSpPr>
        <p:spPr>
          <a:xfrm>
            <a:off x="3291840" y="1828800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only within lookahead L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along computed prefix path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heuristic values to avoid loops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goal reached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788920" cy="3246120"/>
          </a:xfrm>
          <a:prstGeom prst="rect">
            <a:avLst/>
          </a:prstGeom>
          <a:solidFill>
            <a:srgbClr val="FFD166">
              <a:alpha val="12000"/>
            </a:srgbClr>
          </a:solidFill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26480" y="1417320"/>
            <a:ext cx="2788920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9632" y="1435608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Property</a:t>
            </a:r>
            <a:endParaRPr lang="en-US" sz="1300"/>
          </a:p>
        </p:txBody>
      </p:sp>
      <p:sp>
        <p:nvSpPr>
          <p:cNvPr id="20" name="Text 18"/>
          <p:cNvSpPr/>
          <p:nvPr/>
        </p:nvSpPr>
        <p:spPr>
          <a:xfrm>
            <a:off x="6217920" y="1828800"/>
            <a:ext cx="260604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values grow over time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locally consistent → complete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cycling without reaching goal</a:t>
            </a:r>
            <a:endParaRPr lang="en-US" sz="115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path quality for speed</a:t>
            </a:r>
            <a:endParaRPr lang="en-US" sz="1150"/>
          </a:p>
        </p:txBody>
      </p:sp>
      <p:sp>
        <p:nvSpPr>
          <p:cNvPr id="21" name="Shape 19"/>
          <p:cNvSpPr/>
          <p:nvPr/>
        </p:nvSpPr>
        <p:spPr>
          <a:xfrm>
            <a:off x="274320" y="4572000"/>
            <a:ext cx="8595360" cy="228600"/>
          </a:xfrm>
          <a:prstGeom prst="rect">
            <a:avLst/>
          </a:prstGeom>
          <a:solidFill>
            <a:srgbClr val="0D1B2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4581144"/>
            <a:ext cx="832104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RTAA* (Real-Time Adaptive A*) — the RTHS foundation for BMAA*</a:t>
            </a:r>
            <a:endParaRPr lang="en-US" sz="10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RTAA* — Real-Time Adaptive A*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389120" cy="3566160"/>
          </a:xfrm>
          <a:prstGeom prst="rect">
            <a:avLst/>
          </a:prstGeom>
          <a:solidFill>
            <a:srgbClr val="0F17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389120" cy="256032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850392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pseudocode</a:t>
            </a:r>
            <a:endParaRPr lang="en-US" sz="800"/>
          </a:p>
        </p:txBody>
      </p:sp>
      <p:sp>
        <p:nvSpPr>
          <p:cNvPr id="10" name="Text 8"/>
          <p:cNvSpPr/>
          <p:nvPr/>
        </p:nvSpPr>
        <p:spPr>
          <a:xfrm>
            <a:off x="411480" y="1115568"/>
            <a:ext cx="4160520" cy="3182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procedure RTAA*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Search phase (bounded A*)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 A* for at most 'expansions' nodes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let n_best = open.First()   // best frontier node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f_best = g(n_best) + h(n_best)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Update heuristic values (learn!)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each n in closed: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h(n) ← f_best − g(n)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Move along path prefix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move agent along path toward n_best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at most 'moves' steps</a:t>
            </a:r>
            <a:endParaRPr lang="en-US" sz="950"/>
          </a:p>
          <a:p>
            <a:pPr marL="0" indent="0">
              <a:buNone/>
            </a:pP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until agent reaches goal</a:t>
            </a:r>
            <a:endParaRPr lang="en-US" sz="950"/>
          </a:p>
        </p:txBody>
      </p:sp>
      <p:sp>
        <p:nvSpPr>
          <p:cNvPr id="11" name="Text 9"/>
          <p:cNvSpPr/>
          <p:nvPr/>
        </p:nvSpPr>
        <p:spPr>
          <a:xfrm>
            <a:off x="4937760" y="841248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Innovations of RTAA*</a:t>
            </a:r>
            <a:endParaRPr lang="en-US" sz="1400"/>
          </a:p>
        </p:txBody>
      </p:sp>
      <p:sp>
        <p:nvSpPr>
          <p:cNvPr id="12" name="Shape 10"/>
          <p:cNvSpPr/>
          <p:nvPr/>
        </p:nvSpPr>
        <p:spPr>
          <a:xfrm>
            <a:off x="4892040" y="1261872"/>
            <a:ext cx="3977640" cy="73152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92040" y="1261872"/>
            <a:ext cx="64008" cy="7315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0" y="12893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Search</a:t>
            </a:r>
            <a:endParaRPr lang="en-US" sz="1200"/>
          </a:p>
        </p:txBody>
      </p:sp>
      <p:sp>
        <p:nvSpPr>
          <p:cNvPr id="15" name="Text 13"/>
          <p:cNvSpPr/>
          <p:nvPr/>
        </p:nvSpPr>
        <p:spPr>
          <a:xfrm>
            <a:off x="5029200" y="153619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'expansions' node expansions → guaranteed real-time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4892040" y="2066544"/>
            <a:ext cx="3977640" cy="731520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92040" y="2066544"/>
            <a:ext cx="64008" cy="73152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0" y="20939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Update</a:t>
            </a:r>
            <a:endParaRPr lang="en-US" sz="1200"/>
          </a:p>
        </p:txBody>
      </p:sp>
      <p:sp>
        <p:nvSpPr>
          <p:cNvPr id="19" name="Text 17"/>
          <p:cNvSpPr/>
          <p:nvPr/>
        </p:nvSpPr>
        <p:spPr>
          <a:xfrm>
            <a:off x="5029200" y="23408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← f_best − g(n)  for all expanded nodes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4892040" y="2871216"/>
            <a:ext cx="3977640" cy="731520"/>
          </a:xfrm>
          <a:prstGeom prst="rect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92040" y="2871216"/>
            <a:ext cx="64008" cy="73152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0" y="28986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Prefix</a:t>
            </a:r>
            <a:endParaRPr lang="en-US" sz="1200"/>
          </a:p>
        </p:txBody>
      </p:sp>
      <p:sp>
        <p:nvSpPr>
          <p:cNvPr id="23" name="Text 21"/>
          <p:cNvSpPr/>
          <p:nvPr/>
        </p:nvSpPr>
        <p:spPr>
          <a:xfrm>
            <a:off x="5029200" y="314553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compute prefix, not full path — move and repeat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4892040" y="3675888"/>
            <a:ext cx="3977640" cy="731520"/>
          </a:xfrm>
          <a:prstGeom prst="rect">
            <a:avLst/>
          </a:prstGeom>
          <a:solidFill>
            <a:srgbClr val="FB8500">
              <a:alpha val="15000"/>
            </a:srgbClr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3675888"/>
            <a:ext cx="64008" cy="73152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3703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5029200" y="395020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Monotonically increasing heuristics prevent infinite loops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274320" y="4498848"/>
            <a:ext cx="8595360" cy="320040"/>
          </a:xfrm>
          <a:prstGeom prst="rect">
            <a:avLst/>
          </a:prstGeom>
          <a:solidFill>
            <a:srgbClr val="0D1B2A">
              <a:alpha val="1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451713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= one RTAA* instance per agent, treating other agents as moving obstacles</a:t>
            </a:r>
            <a:endParaRPr lang="en-US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| Our Approach — BMAA*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Multi-Agent A*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| BMAA*</a:t>
            </a:r>
            <a:endParaRPr lang="en-US" sz="10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— Core Idea &amp; Design Philosophy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solidFill>
            <a:srgbClr val="06D6A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41248"/>
            <a:ext cx="8321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runs its own independent RTAA* copy and treats other agents as (moving) obstacles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2743200" cy="64008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6002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NPC Controller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274320" y="2651760"/>
            <a:ext cx="1508760" cy="548640"/>
          </a:xfrm>
          <a:prstGeom prst="rect">
            <a:avLst/>
          </a:prstGeom>
          <a:solidFill>
            <a:srgbClr val="00B4D8">
              <a:alpha val="7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RTAA*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1028700" y="2651760"/>
            <a:ext cx="0" cy="0"/>
          </a:xfrm>
          <a:prstGeom prst="line">
            <a:avLst/>
          </a:prstGeom>
          <a:noFill/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11680" y="2651760"/>
            <a:ext cx="1508760" cy="548640"/>
          </a:xfrm>
          <a:prstGeom prst="rect">
            <a:avLst/>
          </a:prstGeom>
          <a:solidFill>
            <a:srgbClr val="06D6A0">
              <a:alpha val="70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01168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RTAA*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2766060" y="2651760"/>
            <a:ext cx="0" cy="0"/>
          </a:xfrm>
          <a:prstGeom prst="line">
            <a:avLst/>
          </a:prstGeom>
          <a:noFill/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749040" y="2651760"/>
            <a:ext cx="1508760" cy="548640"/>
          </a:xfrm>
          <a:prstGeom prst="rect">
            <a:avLst/>
          </a:prstGeom>
          <a:solidFill>
            <a:srgbClr val="FFD166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74904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RTAA*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503420" y="2651760"/>
            <a:ext cx="0" cy="0"/>
          </a:xfrm>
          <a:prstGeom prst="line">
            <a:avLst/>
          </a:prstGeom>
          <a:noFill/>
          <a:ln w="1905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486400" y="2651760"/>
            <a:ext cx="1508760" cy="548640"/>
          </a:xfrm>
          <a:prstGeom prst="rect">
            <a:avLst/>
          </a:prstGeom>
          <a:solidFill>
            <a:srgbClr val="FB8500">
              <a:alpha val="70000"/>
            </a:srgbClr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4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RTAA*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240780" y="2651760"/>
            <a:ext cx="0" cy="0"/>
          </a:xfrm>
          <a:prstGeom prst="line">
            <a:avLst/>
          </a:prstGeom>
          <a:noFill/>
          <a:ln w="1905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23760" y="2651760"/>
            <a:ext cx="1508760" cy="548640"/>
          </a:xfrm>
          <a:prstGeom prst="rect">
            <a:avLst/>
          </a:prstGeom>
          <a:solidFill>
            <a:srgbClr val="F72585">
              <a:alpha val="70000"/>
            </a:srgbClr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23760" y="265176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5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RTAA*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7978140" y="2651760"/>
            <a:ext cx="0" cy="0"/>
          </a:xfrm>
          <a:prstGeom prst="line">
            <a:avLst/>
          </a:prstGeom>
          <a:noFill/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150876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h-values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(private)</a:t>
            </a:r>
            <a:endParaRPr lang="en-US" sz="850"/>
          </a:p>
        </p:txBody>
      </p:sp>
      <p:sp>
        <p:nvSpPr>
          <p:cNvPr id="28" name="Shape 26"/>
          <p:cNvSpPr/>
          <p:nvPr/>
        </p:nvSpPr>
        <p:spPr>
          <a:xfrm>
            <a:off x="2011680" y="3474720"/>
            <a:ext cx="150876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01168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h-values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(private)</a:t>
            </a:r>
            <a:endParaRPr lang="en-US" sz="850"/>
          </a:p>
        </p:txBody>
      </p:sp>
      <p:sp>
        <p:nvSpPr>
          <p:cNvPr id="30" name="Shape 28"/>
          <p:cNvSpPr/>
          <p:nvPr/>
        </p:nvSpPr>
        <p:spPr>
          <a:xfrm>
            <a:off x="3749040" y="3474720"/>
            <a:ext cx="150876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74904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h-values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(private)</a:t>
            </a:r>
            <a:endParaRPr lang="en-US" sz="850"/>
          </a:p>
        </p:txBody>
      </p:sp>
      <p:sp>
        <p:nvSpPr>
          <p:cNvPr id="32" name="Shape 30"/>
          <p:cNvSpPr/>
          <p:nvPr/>
        </p:nvSpPr>
        <p:spPr>
          <a:xfrm>
            <a:off x="5486400" y="3474720"/>
            <a:ext cx="150876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48640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h-values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(private)</a:t>
            </a:r>
            <a:endParaRPr lang="en-US" sz="850"/>
          </a:p>
        </p:txBody>
      </p:sp>
      <p:sp>
        <p:nvSpPr>
          <p:cNvPr id="34" name="Shape 32"/>
          <p:cNvSpPr/>
          <p:nvPr/>
        </p:nvSpPr>
        <p:spPr>
          <a:xfrm>
            <a:off x="7223760" y="3474720"/>
            <a:ext cx="150876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23760" y="347472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h-values</a:t>
            </a:r>
            <a:endParaRPr lang="en-US" sz="850"/>
          </a:p>
          <a:p>
            <a:pPr marL="0" indent="0" algn="ctr">
              <a:buNone/>
            </a:pPr>
            <a:r>
              <a:rPr lang="en-US" sz="85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(private)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274320" y="4114800"/>
            <a:ext cx="8595360" cy="640080"/>
          </a:xfrm>
          <a:prstGeom prst="rect">
            <a:avLst/>
          </a:prstGeom>
          <a:solidFill>
            <a:srgbClr val="0D1B2A">
              <a:alpha val="12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151376"/>
            <a:ext cx="8321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Real-time    ✓ No coordination    ✓ No map pre-processing    ✓ Dynamic re-tasking    ✓ Modular design</a:t>
            </a:r>
            <a:endParaRPr lang="en-US" sz="115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— Parameters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8595360" cy="713232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1371600" cy="713232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608" y="841248"/>
            <a:ext cx="13350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expansions</a:t>
            </a:r>
            <a:endParaRPr lang="en-US" sz="1300"/>
          </a:p>
        </p:txBody>
      </p:sp>
      <p:sp>
        <p:nvSpPr>
          <p:cNvPr id="10" name="Text 8"/>
          <p:cNvSpPr/>
          <p:nvPr/>
        </p:nvSpPr>
        <p:spPr>
          <a:xfrm>
            <a:off x="1737360" y="87782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on A* node expansions per search phase</a:t>
            </a:r>
            <a:endParaRPr lang="en-US" sz="1150"/>
          </a:p>
        </p:txBody>
      </p:sp>
      <p:sp>
        <p:nvSpPr>
          <p:cNvPr id="11" name="Text 9"/>
          <p:cNvSpPr/>
          <p:nvPr/>
        </p:nvSpPr>
        <p:spPr>
          <a:xfrm>
            <a:off x="1737360" y="11887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Controls search depth per move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7223760" y="932688"/>
            <a:ext cx="1554480" cy="475488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223760" y="89611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274320" y="1600200"/>
            <a:ext cx="8595360" cy="713232"/>
          </a:xfrm>
          <a:prstGeom prst="rect">
            <a:avLst/>
          </a:prstGeom>
          <a:solidFill>
            <a:srgbClr val="06D6A0">
              <a:alpha val="12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1600200"/>
            <a:ext cx="1371600" cy="713232"/>
          </a:xfrm>
          <a:prstGeom prst="rect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2608" y="1618488"/>
            <a:ext cx="13350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1737360" y="165506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within which agents see other agents</a:t>
            </a:r>
            <a:endParaRPr lang="en-US" sz="1150"/>
          </a:p>
        </p:txBody>
      </p:sp>
      <p:sp>
        <p:nvSpPr>
          <p:cNvPr id="18" name="Text 16"/>
          <p:cNvSpPr/>
          <p:nvPr/>
        </p:nvSpPr>
        <p:spPr>
          <a:xfrm>
            <a:off x="1737360" y="1965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Treating nearby agents as obstacles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7223760" y="1709928"/>
            <a:ext cx="1554480" cy="475488"/>
          </a:xfrm>
          <a:prstGeom prst="rect">
            <a:avLst/>
          </a:prstGeom>
          <a:solidFill>
            <a:srgbClr val="06D6A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3760" y="167335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√2</a:t>
            </a:r>
            <a:endParaRPr lang="en-US" sz="1100"/>
          </a:p>
        </p:txBody>
      </p:sp>
      <p:sp>
        <p:nvSpPr>
          <p:cNvPr id="21" name="Shape 19"/>
          <p:cNvSpPr/>
          <p:nvPr/>
        </p:nvSpPr>
        <p:spPr>
          <a:xfrm>
            <a:off x="274320" y="2377440"/>
            <a:ext cx="8595360" cy="713232"/>
          </a:xfrm>
          <a:prstGeom prst="rect">
            <a:avLst/>
          </a:prstGeom>
          <a:solidFill>
            <a:srgbClr val="FFD166">
              <a:alpha val="12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1371600" cy="713232"/>
          </a:xfrm>
          <a:prstGeom prst="rect">
            <a:avLst/>
          </a:prstGeom>
          <a:solidFill>
            <a:srgbClr val="FFD166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92608" y="2395728"/>
            <a:ext cx="13350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moves</a:t>
            </a:r>
            <a:endParaRPr lang="en-US" sz="1300"/>
          </a:p>
        </p:txBody>
      </p:sp>
      <p:sp>
        <p:nvSpPr>
          <p:cNvPr id="24" name="Text 22"/>
          <p:cNvSpPr/>
          <p:nvPr/>
        </p:nvSpPr>
        <p:spPr>
          <a:xfrm>
            <a:off x="1737360" y="24323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moves per path prefix before replanning</a:t>
            </a:r>
            <a:endParaRPr lang="en-US" sz="1150"/>
          </a:p>
        </p:txBody>
      </p:sp>
      <p:sp>
        <p:nvSpPr>
          <p:cNvPr id="25" name="Text 23"/>
          <p:cNvSpPr/>
          <p:nvPr/>
        </p:nvSpPr>
        <p:spPr>
          <a:xfrm>
            <a:off x="1737360" y="27432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Balances replanning vs. movement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7223760" y="2487168"/>
            <a:ext cx="1554480" cy="475488"/>
          </a:xfrm>
          <a:prstGeom prst="rect">
            <a:avLst/>
          </a:prstGeom>
          <a:solidFill>
            <a:srgbClr val="FFD166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23760" y="245059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274320" y="3154680"/>
            <a:ext cx="8595360" cy="713232"/>
          </a:xfrm>
          <a:prstGeom prst="rect">
            <a:avLst/>
          </a:prstGeom>
          <a:solidFill>
            <a:srgbClr val="FB8500">
              <a:alpha val="12000"/>
            </a:srgbClr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154680"/>
            <a:ext cx="1371600" cy="713232"/>
          </a:xfrm>
          <a:prstGeom prst="rect">
            <a:avLst/>
          </a:prstGeom>
          <a:solidFill>
            <a:srgbClr val="FB850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92608" y="3172968"/>
            <a:ext cx="13350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1300"/>
          </a:p>
        </p:txBody>
      </p:sp>
      <p:sp>
        <p:nvSpPr>
          <p:cNvPr id="31" name="Text 29"/>
          <p:cNvSpPr/>
          <p:nvPr/>
        </p:nvSpPr>
        <p:spPr>
          <a:xfrm>
            <a:off x="1737360" y="320954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Boolean: can agents push others off goal nodes?</a:t>
            </a:r>
            <a:endParaRPr lang="en-US" sz="1150"/>
          </a:p>
        </p:txBody>
      </p:sp>
      <p:sp>
        <p:nvSpPr>
          <p:cNvPr id="32" name="Text 30"/>
          <p:cNvSpPr/>
          <p:nvPr/>
        </p:nvSpPr>
        <p:spPr>
          <a:xfrm>
            <a:off x="1737360" y="35204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Prevents permanent blockage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7223760" y="3264408"/>
            <a:ext cx="1554480" cy="475488"/>
          </a:xfrm>
          <a:prstGeom prst="rect">
            <a:avLst/>
          </a:prstGeom>
          <a:solidFill>
            <a:srgbClr val="FB85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223760" y="322783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true/false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274320" y="3931920"/>
            <a:ext cx="8595360" cy="713232"/>
          </a:xfrm>
          <a:prstGeom prst="rect">
            <a:avLst/>
          </a:prstGeom>
          <a:solidFill>
            <a:srgbClr val="7B2D8B">
              <a:alpha val="12000"/>
            </a:srgbClr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74320" y="3931920"/>
            <a:ext cx="1371600" cy="713232"/>
          </a:xfrm>
          <a:prstGeom prst="rect">
            <a:avLst/>
          </a:prstGeom>
          <a:solidFill>
            <a:srgbClr val="7B2D8B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92608" y="3950208"/>
            <a:ext cx="1335024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flow</a:t>
            </a:r>
            <a:endParaRPr lang="en-US" sz="1300"/>
          </a:p>
        </p:txBody>
      </p:sp>
      <p:sp>
        <p:nvSpPr>
          <p:cNvPr id="38" name="Text 36"/>
          <p:cNvSpPr/>
          <p:nvPr/>
        </p:nvSpPr>
        <p:spPr>
          <a:xfrm>
            <a:off x="1737360" y="398678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Boolean: use FAR-style flow annotations?</a:t>
            </a:r>
            <a:endParaRPr lang="en-US" sz="1150"/>
          </a:p>
        </p:txBody>
      </p:sp>
      <p:sp>
        <p:nvSpPr>
          <p:cNvPr id="39" name="Text 37"/>
          <p:cNvSpPr/>
          <p:nvPr/>
        </p:nvSpPr>
        <p:spPr>
          <a:xfrm>
            <a:off x="1737360" y="4297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Reduces head-on collisions</a:t>
            </a:r>
            <a:endParaRPr lang="en-US" sz="1000"/>
          </a:p>
        </p:txBody>
      </p:sp>
      <p:sp>
        <p:nvSpPr>
          <p:cNvPr id="40" name="Shape 38"/>
          <p:cNvSpPr/>
          <p:nvPr/>
        </p:nvSpPr>
        <p:spPr>
          <a:xfrm>
            <a:off x="7223760" y="4041648"/>
            <a:ext cx="1554480" cy="475488"/>
          </a:xfrm>
          <a:prstGeom prst="rect">
            <a:avLst/>
          </a:prstGeom>
          <a:solidFill>
            <a:srgbClr val="7B2D8B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223760" y="4005072"/>
            <a:ext cx="1554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Default:</a:t>
            </a:r>
            <a:endParaRPr lang="en-US" sz="1100"/>
          </a:p>
          <a:p>
            <a:pPr marL="0" indent="0" algn="ctr">
              <a:buNone/>
            </a:pPr>
            <a:r>
              <a:rPr lang="en-US" sz="11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true/false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— BMAA* NPC Controller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5212080" y="841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 (per time step)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5212080" y="1234440"/>
            <a:ext cx="3657600" cy="548640"/>
          </a:xfrm>
          <a:prstGeom prst="rect">
            <a:avLst/>
          </a:prstGeom>
          <a:solidFill>
            <a:srgbClr val="00B4D8">
              <a:alpha val="90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1234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agents:</a:t>
            </a:r>
            <a:endParaRPr lang="en-US" sz="1050"/>
          </a:p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Search-Phase()</a:t>
            </a:r>
            <a:endParaRPr lang="en-US" sz="1050"/>
          </a:p>
        </p:txBody>
      </p:sp>
      <p:sp>
        <p:nvSpPr>
          <p:cNvPr id="14" name="Shape 12"/>
          <p:cNvSpPr/>
          <p:nvPr/>
        </p:nvSpPr>
        <p:spPr>
          <a:xfrm>
            <a:off x="7040880" y="1783080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212080" y="1901952"/>
            <a:ext cx="3657600" cy="548640"/>
          </a:xfrm>
          <a:prstGeom prst="rect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0" y="190195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agent: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next node n</a:t>
            </a:r>
            <a:endParaRPr lang="en-US" sz="1050"/>
          </a:p>
        </p:txBody>
      </p:sp>
      <p:sp>
        <p:nvSpPr>
          <p:cNvPr id="17" name="Shape 15"/>
          <p:cNvSpPr/>
          <p:nvPr/>
        </p:nvSpPr>
        <p:spPr>
          <a:xfrm>
            <a:off x="7040880" y="2450592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12080" y="2569464"/>
            <a:ext cx="3657600" cy="548640"/>
          </a:xfrm>
          <a:prstGeom prst="rect">
            <a:avLst/>
          </a:prstGeom>
          <a:solidFill>
            <a:srgbClr val="FB8500">
              <a:alpha val="25000"/>
            </a:srgbClr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0" y="25694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push=true ∧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is blocked?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7040880" y="3118104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212080" y="3236976"/>
            <a:ext cx="3657600" cy="502920"/>
          </a:xfrm>
          <a:prstGeom prst="rect">
            <a:avLst/>
          </a:prstGeom>
          <a:solidFill>
            <a:srgbClr val="F72585">
              <a:alpha val="25000"/>
            </a:srgbClr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0" y="3236976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PushAgent()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blocker moves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7040880" y="3739896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12080" y="3858768"/>
            <a:ext cx="3657600" cy="548640"/>
          </a:xfrm>
          <a:prstGeom prst="rect">
            <a:avLst/>
          </a:prstGeom>
          <a:solidFill>
            <a:srgbClr val="06D6A0">
              <a:alpha val="2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0" y="385876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not blocked?</a:t>
            </a:r>
            <a:endParaRPr lang="en-US" sz="1050"/>
          </a:p>
          <a:p>
            <a:pPr marL="0" indent="0" algn="ctr">
              <a:buNone/>
            </a:pPr>
            <a:r>
              <a:rPr lang="en-US" sz="10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MoveTo(n)</a:t>
            </a:r>
            <a:endParaRPr lang="en-US" sz="1050"/>
          </a:p>
        </p:txBody>
      </p:sp>
      <p:sp>
        <p:nvSpPr>
          <p:cNvPr id="26" name="Shape 24"/>
          <p:cNvSpPr/>
          <p:nvPr/>
        </p:nvSpPr>
        <p:spPr>
          <a:xfrm>
            <a:off x="7040880" y="4407408"/>
            <a:ext cx="0" cy="10972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212080" y="4526280"/>
            <a:ext cx="3657600" cy="411480"/>
          </a:xfrm>
          <a:prstGeom prst="rect">
            <a:avLst/>
          </a:prstGeom>
          <a:solidFill>
            <a:srgbClr val="0D1B2A">
              <a:alpha val="90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12080" y="45262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← time + 1</a:t>
            </a:r>
            <a:endParaRPr lang="en-US" sz="1050"/>
          </a:p>
        </p:txBody>
      </p:sp>
      <p:pic>
        <p:nvPicPr>
          <p:cNvPr id="29" name="Picture 28" descr="A computer code with black text&#10;&#10;AI-generated content may be incorrect.">
            <a:extLst>
              <a:ext uri="{FF2B5EF4-FFF2-40B4-BE49-F238E27FC236}">
                <a16:creationId xmlns:a16="http://schemas.microsoft.com/office/drawing/2014/main" id="{50106874-FF88-760C-4E95-AC695AF6E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594" y="1400175"/>
            <a:ext cx="2962275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&amp; 4 — Search Phase &amp; Heuristic Update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4892040" y="84124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work?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846320" y="1261872"/>
            <a:ext cx="4023360" cy="64008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46320" y="1261872"/>
            <a:ext cx="64008" cy="6400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83480" y="1289304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 condition</a:t>
            </a:r>
            <a:endParaRPr lang="en-US" sz="1150"/>
          </a:p>
        </p:txBody>
      </p:sp>
      <p:sp>
        <p:nvSpPr>
          <p:cNvPr id="19" name="Text 17"/>
          <p:cNvSpPr/>
          <p:nvPr/>
        </p:nvSpPr>
        <p:spPr>
          <a:xfrm>
            <a:off x="4983480" y="1499616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expired (moves steps taken) OR agent was pushed off path → triggers new search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4846320" y="1956816"/>
            <a:ext cx="4023360" cy="640080"/>
          </a:xfrm>
          <a:prstGeom prst="rect">
            <a:avLst/>
          </a:prstGeom>
          <a:solidFill>
            <a:srgbClr val="0077B6">
              <a:alpha val="15000"/>
            </a:srgbClr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846320" y="1956816"/>
            <a:ext cx="64008" cy="640080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83480" y="1984248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A* search</a:t>
            </a:r>
            <a:endParaRPr lang="en-US" sz="1150"/>
          </a:p>
        </p:txBody>
      </p:sp>
      <p:sp>
        <p:nvSpPr>
          <p:cNvPr id="23" name="Text 21"/>
          <p:cNvSpPr/>
          <p:nvPr/>
        </p:nvSpPr>
        <p:spPr>
          <a:xfrm>
            <a:off x="4983480" y="2194560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at most 'expansions' nodes → guaranteed time budget per step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4846320" y="2651760"/>
            <a:ext cx="4023360" cy="640080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2651760"/>
            <a:ext cx="64008" cy="64008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983480" y="2679192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frontier node</a:t>
            </a:r>
            <a:endParaRPr lang="en-US" sz="1150"/>
          </a:p>
        </p:txBody>
      </p:sp>
      <p:sp>
        <p:nvSpPr>
          <p:cNvPr id="27" name="Text 25"/>
          <p:cNvSpPr/>
          <p:nvPr/>
        </p:nvSpPr>
        <p:spPr>
          <a:xfrm>
            <a:off x="4983480" y="2889504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A* was about to expand next = target for path prefix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4846320" y="3346704"/>
            <a:ext cx="4023360" cy="640080"/>
          </a:xfrm>
          <a:prstGeom prst="rect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46320" y="3346704"/>
            <a:ext cx="64008" cy="64008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83480" y="3374136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← f − g(n)</a:t>
            </a:r>
            <a:endParaRPr lang="en-US" sz="1150"/>
          </a:p>
        </p:txBody>
      </p:sp>
      <p:sp>
        <p:nvSpPr>
          <p:cNvPr id="31" name="Text 29"/>
          <p:cNvSpPr/>
          <p:nvPr/>
        </p:nvSpPr>
        <p:spPr>
          <a:xfrm>
            <a:off x="4983480" y="3584448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heuristics of expanded nodes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revisiting dead-end paths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4846320" y="4041648"/>
            <a:ext cx="4023360" cy="640080"/>
          </a:xfrm>
          <a:prstGeom prst="rect">
            <a:avLst/>
          </a:prstGeom>
          <a:solidFill>
            <a:srgbClr val="FB8500">
              <a:alpha val="15000"/>
            </a:srgbClr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4041648"/>
            <a:ext cx="64008" cy="64008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983480" y="4069080"/>
            <a:ext cx="3794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Monotone increase</a:t>
            </a:r>
            <a:endParaRPr lang="en-US" sz="1150"/>
          </a:p>
        </p:txBody>
      </p:sp>
      <p:sp>
        <p:nvSpPr>
          <p:cNvPr id="35" name="Text 33"/>
          <p:cNvSpPr/>
          <p:nvPr/>
        </p:nvSpPr>
        <p:spPr>
          <a:xfrm>
            <a:off x="4983480" y="4279392"/>
            <a:ext cx="3794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Heuristics only increase → agent always makes progress toward goal</a:t>
            </a:r>
            <a:endParaRPr lang="en-US" sz="1000"/>
          </a:p>
        </p:txBody>
      </p:sp>
      <p:pic>
        <p:nvPicPr>
          <p:cNvPr id="36" name="Picture 35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880B3C88-104D-6252-A8C2-1D4A3BBE3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75" y="1285876"/>
            <a:ext cx="3124200" cy="1571625"/>
          </a:xfrm>
          <a:prstGeom prst="rect">
            <a:avLst/>
          </a:prstGeom>
        </p:spPr>
      </p:pic>
      <p:pic>
        <p:nvPicPr>
          <p:cNvPr id="37" name="Picture 3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FDA293CF-26FC-0AE1-1149-C761DC848F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775" y="3498056"/>
            <a:ext cx="3124200" cy="6477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 flipV="1">
            <a:off x="0" y="483489"/>
            <a:ext cx="9144000" cy="73723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002"/>
            <a:ext cx="8595360" cy="4729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5 — BMAA*'s Modified A* (Search)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5074920" y="8412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Differences from Standard A*</a:t>
            </a:r>
            <a:endParaRPr lang="en-US" sz="1300"/>
          </a:p>
        </p:txBody>
      </p:sp>
      <p:sp>
        <p:nvSpPr>
          <p:cNvPr id="12" name="Shape 10"/>
          <p:cNvSpPr/>
          <p:nvPr/>
        </p:nvSpPr>
        <p:spPr>
          <a:xfrm>
            <a:off x="5029200" y="1261872"/>
            <a:ext cx="3840480" cy="603504"/>
          </a:xfrm>
          <a:prstGeom prst="rect">
            <a:avLst/>
          </a:prstGeom>
          <a:solidFill>
            <a:srgbClr val="F72585">
              <a:alpha val="15000"/>
            </a:srgbClr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029200" y="1261872"/>
            <a:ext cx="64008" cy="603504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66360" y="1289304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Expansion Bound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5166360" y="149961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after 'expansions' nodes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prefix path, not full path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5029200" y="1920240"/>
            <a:ext cx="3840480" cy="603504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0" y="1920240"/>
            <a:ext cx="64008" cy="60350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6360" y="194767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Agent as Obstacle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5166360" y="215798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n' is an agent within 'vision'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skip (treat as wall)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5029200" y="2578608"/>
            <a:ext cx="3840480" cy="603504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029200" y="2578608"/>
            <a:ext cx="64008" cy="60350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166360" y="260604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Goal Exception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5166360" y="2816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blocking the goal node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NOT treated as obstacles</a:t>
            </a:r>
            <a:endParaRPr lang="en-US" sz="1000"/>
          </a:p>
        </p:txBody>
      </p:sp>
      <p:sp>
        <p:nvSpPr>
          <p:cNvPr id="24" name="Shape 22"/>
          <p:cNvSpPr/>
          <p:nvPr/>
        </p:nvSpPr>
        <p:spPr>
          <a:xfrm>
            <a:off x="5029200" y="3236976"/>
            <a:ext cx="3840480" cy="603504"/>
          </a:xfrm>
          <a:prstGeom prst="rect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0" y="3236976"/>
            <a:ext cx="64008" cy="603504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66360" y="3264408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Flow Filter</a:t>
            </a:r>
            <a:endParaRPr lang="en-US" sz="1100"/>
          </a:p>
        </p:txBody>
      </p:sp>
      <p:sp>
        <p:nvSpPr>
          <p:cNvPr id="27" name="Text 25"/>
          <p:cNvSpPr/>
          <p:nvPr/>
        </p:nvSpPr>
        <p:spPr>
          <a:xfrm>
            <a:off x="516636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GetNeighbors(flow=true) returns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FAR-annotated neighbors</a:t>
            </a:r>
            <a:endParaRPr lang="en-US" sz="1000"/>
          </a:p>
        </p:txBody>
      </p:sp>
      <p:sp>
        <p:nvSpPr>
          <p:cNvPr id="28" name="Shape 26"/>
          <p:cNvSpPr/>
          <p:nvPr/>
        </p:nvSpPr>
        <p:spPr>
          <a:xfrm>
            <a:off x="5029200" y="3895344"/>
            <a:ext cx="3840480" cy="603504"/>
          </a:xfrm>
          <a:prstGeom prst="rect">
            <a:avLst/>
          </a:prstGeom>
          <a:solidFill>
            <a:srgbClr val="FB8500">
              <a:alpha val="15000"/>
            </a:srgbClr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029200" y="3895344"/>
            <a:ext cx="64008" cy="603504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6360" y="3922776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Private h-values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5166360" y="41330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maintains own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table — never shared</a:t>
            </a:r>
            <a:endParaRPr lang="en-US" sz="1000"/>
          </a:p>
        </p:txBody>
      </p:sp>
      <p:pic>
        <p:nvPicPr>
          <p:cNvPr id="32" name="Picture 31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A8BC3556-8438-C1A0-E9DE-3DC87FC3F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41" y="678656"/>
            <a:ext cx="3182431" cy="416480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| Working Examples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visual walkthrough of BMAA*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| BMAA*</a:t>
            </a:r>
            <a:endParaRPr lang="en-US" sz="1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Walkthrough — Time Steps 0 &amp; 1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74320" y="704088"/>
            <a:ext cx="2962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0  (Initial State)</a:t>
            </a:r>
            <a:endParaRPr lang="en-US" sz="100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75488" cy="475488"/>
          </a:xfrm>
          <a:prstGeom prst="rect">
            <a:avLst/>
          </a:prstGeom>
          <a:solidFill>
            <a:srgbClr val="06D6A0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9601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A1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768096" y="96012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261872" y="96012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755648" y="96012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49424" y="96012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743200" y="960120"/>
            <a:ext cx="475488" cy="475488"/>
          </a:xfrm>
          <a:prstGeom prst="rect">
            <a:avLst/>
          </a:prstGeom>
          <a:solidFill>
            <a:srgbClr val="FFD166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743200" y="96012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A2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74320" y="1453896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68096" y="1453896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261872" y="1453896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755648" y="1453896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49424" y="1453896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0" y="1453896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1947672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68096" y="1947672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261872" y="1947672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755648" y="1947672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49424" y="1947672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0" y="1947672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2441448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68096" y="2441448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261872" y="2441448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755648" y="2441448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49424" y="2441448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743200" y="2441448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2935224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68096" y="2935224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261872" y="2935224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755648" y="2935224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249424" y="2935224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743200" y="2935224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74320" y="3429000"/>
            <a:ext cx="475488" cy="475488"/>
          </a:xfrm>
          <a:prstGeom prst="rect">
            <a:avLst/>
          </a:prstGeom>
          <a:solidFill>
            <a:srgbClr val="FEF9C3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4320" y="34290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B8500"/>
                </a:solidFill>
              </a:rPr>
              <a:t>G2</a:t>
            </a:r>
            <a:endParaRPr lang="en-US" sz="800"/>
          </a:p>
        </p:txBody>
      </p:sp>
      <p:sp>
        <p:nvSpPr>
          <p:cNvPr id="42" name="Shape 40"/>
          <p:cNvSpPr/>
          <p:nvPr/>
        </p:nvSpPr>
        <p:spPr>
          <a:xfrm>
            <a:off x="768096" y="342900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261872" y="342900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755648" y="342900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249424" y="342900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743200" y="3429000"/>
            <a:ext cx="475488" cy="475488"/>
          </a:xfrm>
          <a:prstGeom prst="rect">
            <a:avLst/>
          </a:prstGeom>
          <a:solidFill>
            <a:srgbClr val="D1FAE5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0" y="34290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77B6"/>
                </a:solidFill>
              </a:rPr>
              <a:t>G1</a:t>
            </a:r>
            <a:endParaRPr lang="en-US" sz="800"/>
          </a:p>
        </p:txBody>
      </p:sp>
      <p:sp>
        <p:nvSpPr>
          <p:cNvPr id="48" name="Shape 46"/>
          <p:cNvSpPr/>
          <p:nvPr/>
        </p:nvSpPr>
        <p:spPr>
          <a:xfrm>
            <a:off x="3337560" y="2606040"/>
            <a:ext cx="457200" cy="0"/>
          </a:xfrm>
          <a:prstGeom prst="line">
            <a:avLst/>
          </a:prstGeom>
          <a:noFill/>
          <a:ln w="317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337560" y="2487168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00B4D8"/>
                </a:solidFill>
              </a:rPr>
              <a:t>→</a:t>
            </a:r>
            <a:endParaRPr lang="en-US" sz="1400"/>
          </a:p>
        </p:txBody>
      </p:sp>
      <p:sp>
        <p:nvSpPr>
          <p:cNvPr id="50" name="Text 48"/>
          <p:cNvSpPr/>
          <p:nvPr/>
        </p:nvSpPr>
        <p:spPr>
          <a:xfrm>
            <a:off x="4114800" y="704088"/>
            <a:ext cx="29626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= 1  (After Search + Move)</a:t>
            </a:r>
            <a:endParaRPr lang="en-US" sz="1000"/>
          </a:p>
        </p:txBody>
      </p:sp>
      <p:sp>
        <p:nvSpPr>
          <p:cNvPr id="51" name="Shape 49"/>
          <p:cNvSpPr/>
          <p:nvPr/>
        </p:nvSpPr>
        <p:spPr>
          <a:xfrm>
            <a:off x="4114800" y="96012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08576" y="96012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102352" y="96012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596128" y="96012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6089904" y="96012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583680" y="96012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114800" y="1453896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4608576" y="1453896"/>
            <a:ext cx="475488" cy="475488"/>
          </a:xfrm>
          <a:prstGeom prst="rect">
            <a:avLst/>
          </a:prstGeom>
          <a:solidFill>
            <a:srgbClr val="06D6A0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4608576" y="145389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A1</a:t>
            </a:r>
            <a:endParaRPr lang="en-US" sz="900"/>
          </a:p>
        </p:txBody>
      </p:sp>
      <p:sp>
        <p:nvSpPr>
          <p:cNvPr id="60" name="Shape 58"/>
          <p:cNvSpPr/>
          <p:nvPr/>
        </p:nvSpPr>
        <p:spPr>
          <a:xfrm>
            <a:off x="5102352" y="1453896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596128" y="1453896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089904" y="1453896"/>
            <a:ext cx="475488" cy="475488"/>
          </a:xfrm>
          <a:prstGeom prst="rect">
            <a:avLst/>
          </a:prstGeom>
          <a:solidFill>
            <a:srgbClr val="FFD166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6089904" y="1453896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A2</a:t>
            </a:r>
            <a:endParaRPr lang="en-US" sz="900"/>
          </a:p>
        </p:txBody>
      </p:sp>
      <p:sp>
        <p:nvSpPr>
          <p:cNvPr id="64" name="Shape 62"/>
          <p:cNvSpPr/>
          <p:nvPr/>
        </p:nvSpPr>
        <p:spPr>
          <a:xfrm>
            <a:off x="6583680" y="1453896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114800" y="1947672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4608576" y="1947672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102352" y="1947672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596128" y="1947672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089904" y="1947672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6583680" y="1947672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114800" y="2441448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4608576" y="2441448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102352" y="2441448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596128" y="2441448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089904" y="2441448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6583680" y="2441448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4114800" y="2935224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4608576" y="2935224"/>
            <a:ext cx="475488" cy="47548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5102352" y="2935224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5596128" y="2935224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089904" y="2935224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6583680" y="2935224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4114800" y="3429000"/>
            <a:ext cx="475488" cy="475488"/>
          </a:xfrm>
          <a:prstGeom prst="rect">
            <a:avLst/>
          </a:prstGeom>
          <a:solidFill>
            <a:srgbClr val="FEF9C3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4114800" y="34290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B8500"/>
                </a:solidFill>
              </a:rPr>
              <a:t>G2</a:t>
            </a:r>
            <a:endParaRPr lang="en-US" sz="800"/>
          </a:p>
        </p:txBody>
      </p:sp>
      <p:sp>
        <p:nvSpPr>
          <p:cNvPr id="85" name="Shape 83"/>
          <p:cNvSpPr/>
          <p:nvPr/>
        </p:nvSpPr>
        <p:spPr>
          <a:xfrm>
            <a:off x="4608576" y="342900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5102352" y="342900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5596128" y="342900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Shape 86"/>
          <p:cNvSpPr/>
          <p:nvPr/>
        </p:nvSpPr>
        <p:spPr>
          <a:xfrm>
            <a:off x="6089904" y="3429000"/>
            <a:ext cx="475488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6583680" y="3429000"/>
            <a:ext cx="475488" cy="475488"/>
          </a:xfrm>
          <a:prstGeom prst="rect">
            <a:avLst/>
          </a:prstGeom>
          <a:solidFill>
            <a:srgbClr val="D1FAE5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6583680" y="3429000"/>
            <a:ext cx="4937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77B6"/>
                </a:solidFill>
              </a:rPr>
              <a:t>G1</a:t>
            </a:r>
            <a:endParaRPr lang="en-US" sz="800"/>
          </a:p>
        </p:txBody>
      </p:sp>
      <p:sp>
        <p:nvSpPr>
          <p:cNvPr id="91" name="Shape 89"/>
          <p:cNvSpPr/>
          <p:nvPr/>
        </p:nvSpPr>
        <p:spPr>
          <a:xfrm>
            <a:off x="274320" y="4160520"/>
            <a:ext cx="2788920" cy="64008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47472" y="41788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T=0: Search Phase</a:t>
            </a:r>
            <a:endParaRPr lang="en-US" sz="1000"/>
          </a:p>
        </p:txBody>
      </p:sp>
      <p:sp>
        <p:nvSpPr>
          <p:cNvPr id="93" name="Text 91"/>
          <p:cNvSpPr/>
          <p:nvPr/>
        </p:nvSpPr>
        <p:spPr>
          <a:xfrm>
            <a:off x="347472" y="4389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runs RTAA* (expansions=4)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searches toward G1=(5,5), A2 toward G2=(5,0)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agent treated as obstacle in vision range</a:t>
            </a:r>
            <a:endParaRPr lang="en-US" sz="850"/>
          </a:p>
        </p:txBody>
      </p:sp>
      <p:sp>
        <p:nvSpPr>
          <p:cNvPr id="94" name="Shape 92"/>
          <p:cNvSpPr/>
          <p:nvPr/>
        </p:nvSpPr>
        <p:spPr>
          <a:xfrm>
            <a:off x="3200400" y="4160520"/>
            <a:ext cx="2788920" cy="640080"/>
          </a:xfrm>
          <a:prstGeom prst="rect">
            <a:avLst/>
          </a:prstGeom>
          <a:solidFill>
            <a:srgbClr val="06D6A0">
              <a:alpha val="15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3273552" y="41788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T=0: Execute Phase</a:t>
            </a:r>
            <a:endParaRPr lang="en-US" sz="1000"/>
          </a:p>
        </p:txBody>
      </p:sp>
      <p:sp>
        <p:nvSpPr>
          <p:cNvPr id="96" name="Text 94"/>
          <p:cNvSpPr/>
          <p:nvPr/>
        </p:nvSpPr>
        <p:spPr>
          <a:xfrm>
            <a:off x="3273552" y="4389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moves (0,0)→(1,1)  |  A2 moves (0,5)→(1,4)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collision — different nodes</a:t>
            </a:r>
            <a:endParaRPr lang="en-US" sz="850"/>
          </a:p>
        </p:txBody>
      </p:sp>
      <p:sp>
        <p:nvSpPr>
          <p:cNvPr id="97" name="Shape 95"/>
          <p:cNvSpPr/>
          <p:nvPr/>
        </p:nvSpPr>
        <p:spPr>
          <a:xfrm>
            <a:off x="6126480" y="4160520"/>
            <a:ext cx="2788920" cy="640080"/>
          </a:xfrm>
          <a:prstGeom prst="rect">
            <a:avLst/>
          </a:prstGeom>
          <a:solidFill>
            <a:srgbClr val="FFD166">
              <a:alpha val="15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8" name="Text 96"/>
          <p:cNvSpPr/>
          <p:nvPr/>
        </p:nvSpPr>
        <p:spPr>
          <a:xfrm>
            <a:off x="6199632" y="4178808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Update</a:t>
            </a:r>
            <a:endParaRPr lang="en-US" sz="1000"/>
          </a:p>
        </p:txBody>
      </p:sp>
      <p:sp>
        <p:nvSpPr>
          <p:cNvPr id="99" name="Text 97"/>
          <p:cNvSpPr/>
          <p:nvPr/>
        </p:nvSpPr>
        <p:spPr>
          <a:xfrm>
            <a:off x="6199632" y="438912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← f_best − g(n) for all closed nodes</a:t>
            </a:r>
            <a:endParaRPr lang="en-US" sz="850"/>
          </a:p>
          <a:p>
            <a:pPr marL="0" indent="0">
              <a:buNone/>
            </a:pPr>
            <a:r>
              <a:rPr lang="en-US" sz="8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updated locally for each agent independently</a:t>
            </a:r>
            <a:endParaRPr lang="en-US" sz="85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Walkthrough — Collision Avoidance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00025" y="712375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approaching each other</a:t>
            </a:r>
            <a:endParaRPr lang="en-US" sz="95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32588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7452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316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97180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860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7724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32588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87452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42316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97180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8600" y="2011680"/>
            <a:ext cx="521208" cy="521208"/>
          </a:xfrm>
          <a:prstGeom prst="rect">
            <a:avLst/>
          </a:prstGeom>
          <a:solidFill>
            <a:srgbClr val="06D6A0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86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A1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777240" y="201168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325880" y="2011680"/>
            <a:ext cx="521208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1874520" y="2011680"/>
            <a:ext cx="521208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423160" y="201168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71800" y="2011680"/>
            <a:ext cx="521208" cy="521208"/>
          </a:xfrm>
          <a:prstGeom prst="rect">
            <a:avLst/>
          </a:prstGeom>
          <a:solidFill>
            <a:srgbClr val="FFD166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718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A2</a:t>
            </a:r>
            <a:endParaRPr lang="en-US" sz="900"/>
          </a:p>
        </p:txBody>
      </p:sp>
      <p:sp>
        <p:nvSpPr>
          <p:cNvPr id="28" name="Shape 26"/>
          <p:cNvSpPr/>
          <p:nvPr/>
        </p:nvSpPr>
        <p:spPr>
          <a:xfrm>
            <a:off x="228600" y="256032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256032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25880" y="2560320"/>
            <a:ext cx="521208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874520" y="256032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423160" y="256032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971800" y="256032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28600" y="310896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77240" y="310896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325880" y="310896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874520" y="3108960"/>
            <a:ext cx="521208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2423160" y="310896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2971800" y="310896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2860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7724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132588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187452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242316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97180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772025" y="712375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T=1: Close proximity (vision=√2)</a:t>
            </a:r>
            <a:endParaRPr lang="en-US" sz="950"/>
          </a:p>
        </p:txBody>
      </p:sp>
      <p:sp>
        <p:nvSpPr>
          <p:cNvPr id="47" name="Shape 45"/>
          <p:cNvSpPr/>
          <p:nvPr/>
        </p:nvSpPr>
        <p:spPr>
          <a:xfrm>
            <a:off x="480060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34924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89788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644652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99516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543800" y="9144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0060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34924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89788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644652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99516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7543800" y="146304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800600" y="2011680"/>
            <a:ext cx="521208" cy="521208"/>
          </a:xfrm>
          <a:prstGeom prst="rect">
            <a:avLst/>
          </a:prstGeom>
          <a:solidFill>
            <a:srgbClr val="FEF9C3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8006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D62828"/>
                </a:solidFill>
              </a:rPr>
              <a:t>G2</a:t>
            </a:r>
            <a:endParaRPr lang="en-US" sz="800"/>
          </a:p>
        </p:txBody>
      </p:sp>
      <p:sp>
        <p:nvSpPr>
          <p:cNvPr id="61" name="Shape 59"/>
          <p:cNvSpPr/>
          <p:nvPr/>
        </p:nvSpPr>
        <p:spPr>
          <a:xfrm>
            <a:off x="5349240" y="2011680"/>
            <a:ext cx="521208" cy="521208"/>
          </a:xfrm>
          <a:prstGeom prst="rect">
            <a:avLst/>
          </a:prstGeom>
          <a:solidFill>
            <a:srgbClr val="06D6A0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53492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A1</a:t>
            </a:r>
            <a:endParaRPr lang="en-US" sz="900"/>
          </a:p>
        </p:txBody>
      </p:sp>
      <p:sp>
        <p:nvSpPr>
          <p:cNvPr id="63" name="Shape 61"/>
          <p:cNvSpPr/>
          <p:nvPr/>
        </p:nvSpPr>
        <p:spPr>
          <a:xfrm>
            <a:off x="5897880" y="2011680"/>
            <a:ext cx="521208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446520" y="2011680"/>
            <a:ext cx="521208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6995160" y="2011680"/>
            <a:ext cx="521208" cy="521208"/>
          </a:xfrm>
          <a:prstGeom prst="rect">
            <a:avLst/>
          </a:prstGeom>
          <a:solidFill>
            <a:srgbClr val="FFD166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99516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D1B2A"/>
                </a:solidFill>
              </a:rPr>
              <a:t>A2</a:t>
            </a:r>
            <a:endParaRPr lang="en-US" sz="900"/>
          </a:p>
        </p:txBody>
      </p:sp>
      <p:sp>
        <p:nvSpPr>
          <p:cNvPr id="67" name="Shape 65"/>
          <p:cNvSpPr/>
          <p:nvPr/>
        </p:nvSpPr>
        <p:spPr>
          <a:xfrm>
            <a:off x="7543800" y="2011680"/>
            <a:ext cx="521208" cy="521208"/>
          </a:xfrm>
          <a:prstGeom prst="rect">
            <a:avLst/>
          </a:prstGeom>
          <a:solidFill>
            <a:srgbClr val="D1FAE5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75438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7F5F"/>
                </a:solidFill>
              </a:rPr>
              <a:t>G1</a:t>
            </a:r>
            <a:endParaRPr lang="en-US" sz="800"/>
          </a:p>
        </p:txBody>
      </p:sp>
      <p:sp>
        <p:nvSpPr>
          <p:cNvPr id="69" name="Shape 67"/>
          <p:cNvSpPr/>
          <p:nvPr/>
        </p:nvSpPr>
        <p:spPr>
          <a:xfrm>
            <a:off x="4800600" y="256032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349240" y="256032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897880" y="2560320"/>
            <a:ext cx="521208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446520" y="256032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6995160" y="256032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7543800" y="256032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800600" y="310896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5349240" y="310896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897880" y="310896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Shape 76"/>
          <p:cNvSpPr/>
          <p:nvPr/>
        </p:nvSpPr>
        <p:spPr>
          <a:xfrm>
            <a:off x="6446520" y="3108960"/>
            <a:ext cx="521208" cy="521208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Shape 77"/>
          <p:cNvSpPr/>
          <p:nvPr/>
        </p:nvSpPr>
        <p:spPr>
          <a:xfrm>
            <a:off x="6995160" y="310896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543800" y="310896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480060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534924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589788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Shape 82"/>
          <p:cNvSpPr/>
          <p:nvPr/>
        </p:nvSpPr>
        <p:spPr>
          <a:xfrm>
            <a:off x="644652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Shape 83"/>
          <p:cNvSpPr/>
          <p:nvPr/>
        </p:nvSpPr>
        <p:spPr>
          <a:xfrm>
            <a:off x="699516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543800" y="3657600"/>
            <a:ext cx="521208" cy="521208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Shape 85"/>
          <p:cNvSpPr/>
          <p:nvPr/>
        </p:nvSpPr>
        <p:spPr>
          <a:xfrm>
            <a:off x="1051560" y="2286000"/>
            <a:ext cx="2743200" cy="0"/>
          </a:xfrm>
          <a:prstGeom prst="line">
            <a:avLst/>
          </a:prstGeom>
          <a:noFill/>
          <a:ln w="254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1005840" y="18470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→</a:t>
            </a:r>
            <a:endParaRPr lang="en-US" sz="900"/>
          </a:p>
        </p:txBody>
      </p:sp>
      <p:sp>
        <p:nvSpPr>
          <p:cNvPr id="89" name="Shape 87"/>
          <p:cNvSpPr/>
          <p:nvPr/>
        </p:nvSpPr>
        <p:spPr>
          <a:xfrm>
            <a:off x="3246120" y="2286000"/>
            <a:ext cx="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0" name="Text 88"/>
          <p:cNvSpPr/>
          <p:nvPr/>
        </p:nvSpPr>
        <p:spPr>
          <a:xfrm>
            <a:off x="1828800" y="18470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B8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A2</a:t>
            </a:r>
            <a:endParaRPr lang="en-US" sz="900"/>
          </a:p>
        </p:txBody>
      </p:sp>
      <p:sp>
        <p:nvSpPr>
          <p:cNvPr id="91" name="Shape 89"/>
          <p:cNvSpPr/>
          <p:nvPr/>
        </p:nvSpPr>
        <p:spPr>
          <a:xfrm>
            <a:off x="271461" y="4216527"/>
            <a:ext cx="8608221" cy="644364"/>
          </a:xfrm>
          <a:prstGeom prst="rect">
            <a:avLst/>
          </a:prstGeom>
          <a:solidFill>
            <a:srgbClr val="0D1B2A">
              <a:alpha val="12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365760" y="42062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Avoidance Mechanism:</a:t>
            </a:r>
            <a:endParaRPr lang="en-US" sz="1100"/>
          </a:p>
        </p:txBody>
      </p:sp>
      <p:sp>
        <p:nvSpPr>
          <p:cNvPr id="93" name="Text 91"/>
          <p:cNvSpPr/>
          <p:nvPr/>
        </p:nvSpPr>
        <p:spPr>
          <a:xfrm>
            <a:off x="365760" y="4386833"/>
            <a:ext cx="8321040" cy="20459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Within vision=√2: each agent sees the other and treats its cell as obstacle. Each agent re-plans individually — no communication needed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agents take alternate paths around each other</a:t>
            </a:r>
            <a:endParaRPr lang="en-US" sz="1000"/>
          </a:p>
        </p:txBody>
      </p:sp>
      <p:sp>
        <p:nvSpPr>
          <p:cNvPr id="94" name="Shape 92"/>
          <p:cNvSpPr/>
          <p:nvPr/>
        </p:nvSpPr>
        <p:spPr>
          <a:xfrm>
            <a:off x="4736306" y="3664744"/>
            <a:ext cx="3364707" cy="504062"/>
          </a:xfrm>
          <a:prstGeom prst="rect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799171" y="3740182"/>
            <a:ext cx="336756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sees blocker → marks cell as obstacle → re-plans detour path via updated h-values</a:t>
            </a:r>
            <a:endParaRPr lang="en-US" sz="95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— Push Mechanism (push = true)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Agent parked at goal blocks another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274320" y="1234440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41248" y="1234440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08176" y="1234440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975104" y="1234440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42032" y="1234440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801368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41248" y="1801368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08176" y="1801368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975104" y="1801368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542032" y="1801368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274320" y="2368296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41248" y="2368296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408176" y="2368296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75104" y="2368296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542032" y="2368296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935224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41248" y="2935224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408176" y="2935224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975104" y="2935224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542032" y="2935224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502152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841248" y="3502152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408176" y="3502152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975104" y="3502152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542032" y="3502152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1408176" y="2368296"/>
            <a:ext cx="539496" cy="539496"/>
          </a:xfrm>
          <a:prstGeom prst="rect">
            <a:avLst/>
          </a:prstGeom>
          <a:solidFill>
            <a:srgbClr val="FEF9C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408176" y="2368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FB8500"/>
                </a:solidFill>
              </a:rPr>
              <a:t>G2</a:t>
            </a:r>
            <a:endParaRPr lang="en-US" sz="800"/>
          </a:p>
        </p:txBody>
      </p:sp>
      <p:sp>
        <p:nvSpPr>
          <p:cNvPr id="35" name="Shape 33"/>
          <p:cNvSpPr/>
          <p:nvPr/>
        </p:nvSpPr>
        <p:spPr>
          <a:xfrm>
            <a:off x="1453896" y="2414016"/>
            <a:ext cx="448056" cy="44805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408176" y="2368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</a:rPr>
              <a:t>A2</a:t>
            </a:r>
            <a:endParaRPr lang="en-US" sz="800"/>
          </a:p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</a:rPr>
              <a:t>✓</a:t>
            </a:r>
            <a:endParaRPr lang="en-US" sz="800"/>
          </a:p>
        </p:txBody>
      </p:sp>
      <p:sp>
        <p:nvSpPr>
          <p:cNvPr id="37" name="Shape 35"/>
          <p:cNvSpPr/>
          <p:nvPr/>
        </p:nvSpPr>
        <p:spPr>
          <a:xfrm>
            <a:off x="1975104" y="2368296"/>
            <a:ext cx="539496" cy="539496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975104" y="2368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77B6"/>
                </a:solidFill>
              </a:rPr>
              <a:t>G1</a:t>
            </a:r>
            <a:endParaRPr lang="en-US" sz="800"/>
          </a:p>
        </p:txBody>
      </p:sp>
      <p:sp>
        <p:nvSpPr>
          <p:cNvPr id="39" name="Shape 37"/>
          <p:cNvSpPr/>
          <p:nvPr/>
        </p:nvSpPr>
        <p:spPr>
          <a:xfrm>
            <a:off x="320040" y="2414016"/>
            <a:ext cx="448056" cy="448056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74320" y="2368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</a:rPr>
              <a:t>A1</a:t>
            </a:r>
            <a:endParaRPr lang="en-US" sz="800"/>
          </a:p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</a:rPr>
              <a:t>→?</a:t>
            </a:r>
            <a:endParaRPr lang="en-US" sz="800"/>
          </a:p>
        </p:txBody>
      </p:sp>
      <p:sp>
        <p:nvSpPr>
          <p:cNvPr id="41" name="Shape 39"/>
          <p:cNvSpPr/>
          <p:nvPr/>
        </p:nvSpPr>
        <p:spPr>
          <a:xfrm>
            <a:off x="1124712" y="2651760"/>
            <a:ext cx="566928" cy="0"/>
          </a:xfrm>
          <a:prstGeom prst="line">
            <a:avLst/>
          </a:prstGeom>
          <a:noFill/>
          <a:ln w="254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17182" y="3970496"/>
            <a:ext cx="26489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 wants → G1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A2 blocks path</a:t>
            </a:r>
            <a:endParaRPr lang="en-US" sz="1000"/>
          </a:p>
          <a:p>
            <a:pPr marL="0" indent="0" algn="ctr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(A2 already at goal)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3246120" y="24231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PUSH!</a:t>
            </a:r>
            <a:endParaRPr lang="en-US" sz="1300"/>
          </a:p>
        </p:txBody>
      </p:sp>
      <p:sp>
        <p:nvSpPr>
          <p:cNvPr id="44" name="Shape 42"/>
          <p:cNvSpPr/>
          <p:nvPr/>
        </p:nvSpPr>
        <p:spPr>
          <a:xfrm>
            <a:off x="3200400" y="2606040"/>
            <a:ext cx="502920" cy="0"/>
          </a:xfrm>
          <a:prstGeom prst="line">
            <a:avLst/>
          </a:prstGeom>
          <a:noFill/>
          <a:ln w="317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572000" y="1234440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138928" y="1234440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705856" y="1234440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6272784" y="1234440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839712" y="1234440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572000" y="1801368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5138928" y="1801368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5705856" y="1801368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272784" y="1801368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839712" y="1801368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572000" y="2368296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138928" y="2368296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5705856" y="2368296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272784" y="2368296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839712" y="2368296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572000" y="2935224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5138928" y="2935224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5705856" y="2935224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6272784" y="2935224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839712" y="2935224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572000" y="3502152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138928" y="3502152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705856" y="3502152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272784" y="3502152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839712" y="3502152"/>
            <a:ext cx="539496" cy="539496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705856" y="2368296"/>
            <a:ext cx="539496" cy="539496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5705856" y="236829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077B6"/>
                </a:solidFill>
              </a:rPr>
              <a:t>G1✓</a:t>
            </a:r>
            <a:endParaRPr lang="en-US" sz="800"/>
          </a:p>
          <a:p>
            <a:pPr marL="0" indent="0" algn="ctr">
              <a:buNone/>
            </a:pPr>
            <a:r>
              <a:rPr lang="en-US" sz="800" b="1">
                <a:solidFill>
                  <a:srgbClr val="0077B6"/>
                </a:solidFill>
              </a:rPr>
              <a:t>A1</a:t>
            </a:r>
            <a:endParaRPr lang="en-US" sz="800"/>
          </a:p>
        </p:txBody>
      </p:sp>
      <p:sp>
        <p:nvSpPr>
          <p:cNvPr id="72" name="Shape 70"/>
          <p:cNvSpPr/>
          <p:nvPr/>
        </p:nvSpPr>
        <p:spPr>
          <a:xfrm>
            <a:off x="5184648" y="1847088"/>
            <a:ext cx="448056" cy="448056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5138928" y="1801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</a:rPr>
              <a:t>A2</a:t>
            </a:r>
            <a:endParaRPr lang="en-US" sz="800"/>
          </a:p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</a:rPr>
              <a:t>↗</a:t>
            </a:r>
            <a:endParaRPr lang="en-US" sz="800"/>
          </a:p>
        </p:txBody>
      </p:sp>
      <p:sp>
        <p:nvSpPr>
          <p:cNvPr id="74" name="Text 72"/>
          <p:cNvSpPr/>
          <p:nvPr/>
        </p:nvSpPr>
        <p:spPr>
          <a:xfrm>
            <a:off x="5007769" y="3970496"/>
            <a:ext cx="283464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/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After push: A2 moved to neighbor,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just"/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A1 reaches G1. </a:t>
            </a:r>
            <a:endParaRPr lang="en-US" sz="10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algn="just"/>
            <a:r>
              <a:rPr lang="en-US" sz="1000">
                <a:solidFill>
                  <a:srgbClr val="1E293B"/>
                </a:solidFill>
                <a:latin typeface="Calibri"/>
                <a:ea typeface="Calibri"/>
                <a:cs typeface="Calibri"/>
              </a:rPr>
              <a:t>A2 returns to G2 later.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74320" y="4590288"/>
            <a:ext cx="8595360" cy="256032"/>
          </a:xfrm>
          <a:prstGeom prst="rect">
            <a:avLst/>
          </a:prstGeom>
          <a:solidFill>
            <a:srgbClr val="FB8500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11480" y="4608576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A2 always re-runs RTAA* even at goal → automatically returns to G2 after being pushed</a:t>
            </a:r>
            <a:endParaRPr lang="en-US" sz="10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— Heuristic Update Walkthrough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7432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Search (iteration 1):</a:t>
            </a:r>
            <a:endParaRPr lang="en-US" sz="130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804672" y="1207008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1335024" y="1207008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335024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1865376" y="1207008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865376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395728" y="1207008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95728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274320" y="1737360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74320" y="17373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20" name="Shape 18"/>
          <p:cNvSpPr/>
          <p:nvPr/>
        </p:nvSpPr>
        <p:spPr>
          <a:xfrm>
            <a:off x="804672" y="1737360"/>
            <a:ext cx="502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335024" y="1737360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335024" y="17373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23" name="Shape 21"/>
          <p:cNvSpPr/>
          <p:nvPr/>
        </p:nvSpPr>
        <p:spPr>
          <a:xfrm>
            <a:off x="1865376" y="1737360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865376" y="17373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2395728" y="1737360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395728" y="17373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274320" y="2267712"/>
            <a:ext cx="502920" cy="502920"/>
          </a:xfrm>
          <a:prstGeom prst="rect">
            <a:avLst/>
          </a:prstGeom>
          <a:solidFill>
            <a:srgbClr val="06D6A0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S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804672" y="2267712"/>
            <a:ext cx="502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335024" y="2267712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335024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32" name="Shape 30"/>
          <p:cNvSpPr/>
          <p:nvPr/>
        </p:nvSpPr>
        <p:spPr>
          <a:xfrm>
            <a:off x="1865376" y="2267712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65376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2395728" y="2267712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395728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36" name="Shape 34"/>
          <p:cNvSpPr/>
          <p:nvPr/>
        </p:nvSpPr>
        <p:spPr>
          <a:xfrm>
            <a:off x="274320" y="2798064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27980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38" name="Shape 36"/>
          <p:cNvSpPr/>
          <p:nvPr/>
        </p:nvSpPr>
        <p:spPr>
          <a:xfrm>
            <a:off x="804672" y="2798064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04672" y="27980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40" name="Shape 38"/>
          <p:cNvSpPr/>
          <p:nvPr/>
        </p:nvSpPr>
        <p:spPr>
          <a:xfrm>
            <a:off x="1335024" y="2798064"/>
            <a:ext cx="502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865376" y="2798064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865376" y="27980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2395728" y="2798064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395728" y="27980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45" name="Shape 43"/>
          <p:cNvSpPr/>
          <p:nvPr/>
        </p:nvSpPr>
        <p:spPr>
          <a:xfrm>
            <a:off x="274320" y="3328416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274320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47" name="Shape 45"/>
          <p:cNvSpPr/>
          <p:nvPr/>
        </p:nvSpPr>
        <p:spPr>
          <a:xfrm>
            <a:off x="804672" y="3328416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04672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49" name="Shape 47"/>
          <p:cNvSpPr/>
          <p:nvPr/>
        </p:nvSpPr>
        <p:spPr>
          <a:xfrm>
            <a:off x="1335024" y="3328416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335024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51" name="Shape 49"/>
          <p:cNvSpPr/>
          <p:nvPr/>
        </p:nvSpPr>
        <p:spPr>
          <a:xfrm>
            <a:off x="1865376" y="3328416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1865376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∞</a:t>
            </a:r>
            <a:endParaRPr lang="en-US" sz="900"/>
          </a:p>
        </p:txBody>
      </p:sp>
      <p:sp>
        <p:nvSpPr>
          <p:cNvPr id="53" name="Shape 51"/>
          <p:cNvSpPr/>
          <p:nvPr/>
        </p:nvSpPr>
        <p:spPr>
          <a:xfrm>
            <a:off x="2395728" y="3328416"/>
            <a:ext cx="502920" cy="502920"/>
          </a:xfrm>
          <a:prstGeom prst="rect">
            <a:avLst/>
          </a:prstGeom>
          <a:solidFill>
            <a:srgbClr val="F72585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2395728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</a:rPr>
              <a:t>G</a:t>
            </a:r>
            <a:endParaRPr lang="en-US" sz="900"/>
          </a:p>
        </p:txBody>
      </p:sp>
      <p:sp>
        <p:nvSpPr>
          <p:cNvPr id="55" name="Text 53"/>
          <p:cNvSpPr/>
          <p:nvPr/>
        </p:nvSpPr>
        <p:spPr>
          <a:xfrm>
            <a:off x="274320" y="38862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h-values mostly ∞</a:t>
            </a:r>
            <a:endParaRPr lang="en-US" sz="1000"/>
          </a:p>
          <a:p>
            <a:pPr marL="0" indent="0">
              <a:buNone/>
            </a:pPr>
            <a:r>
              <a:rPr lang="en-US" sz="100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has not explored yet</a:t>
            </a:r>
            <a:endParaRPr lang="en-US" sz="1000"/>
          </a:p>
        </p:txBody>
      </p:sp>
      <p:sp>
        <p:nvSpPr>
          <p:cNvPr id="56" name="Text 54"/>
          <p:cNvSpPr/>
          <p:nvPr/>
        </p:nvSpPr>
        <p:spPr>
          <a:xfrm>
            <a:off x="3154680" y="21945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RTAA*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→</a:t>
            </a:r>
            <a:endParaRPr lang="en-US" sz="1000"/>
          </a:p>
        </p:txBody>
      </p:sp>
      <p:sp>
        <p:nvSpPr>
          <p:cNvPr id="57" name="Shape 55"/>
          <p:cNvSpPr/>
          <p:nvPr/>
        </p:nvSpPr>
        <p:spPr>
          <a:xfrm>
            <a:off x="3246120" y="2633472"/>
            <a:ext cx="73152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4434840" y="822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Search (iteration 1):</a:t>
            </a:r>
            <a:endParaRPr lang="en-US" sz="1300"/>
          </a:p>
        </p:txBody>
      </p:sp>
      <p:sp>
        <p:nvSpPr>
          <p:cNvPr id="59" name="Shape 57"/>
          <p:cNvSpPr/>
          <p:nvPr/>
        </p:nvSpPr>
        <p:spPr>
          <a:xfrm>
            <a:off x="4434840" y="1207008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434840" y="1207008"/>
            <a:ext cx="502920" cy="502920"/>
          </a:xfrm>
          <a:prstGeom prst="rect">
            <a:avLst/>
          </a:prstGeom>
          <a:solidFill>
            <a:srgbClr val="F0F9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434840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8</a:t>
            </a:r>
            <a:endParaRPr lang="en-US" sz="1000"/>
          </a:p>
        </p:txBody>
      </p:sp>
      <p:sp>
        <p:nvSpPr>
          <p:cNvPr id="62" name="Shape 60"/>
          <p:cNvSpPr/>
          <p:nvPr/>
        </p:nvSpPr>
        <p:spPr>
          <a:xfrm>
            <a:off x="4965192" y="1207008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965192" y="1207008"/>
            <a:ext cx="502920" cy="502920"/>
          </a:xfrm>
          <a:prstGeom prst="rect">
            <a:avLst/>
          </a:prstGeom>
          <a:solidFill>
            <a:srgbClr val="F0F9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965192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7</a:t>
            </a:r>
            <a:endParaRPr lang="en-US" sz="1000"/>
          </a:p>
        </p:txBody>
      </p:sp>
      <p:sp>
        <p:nvSpPr>
          <p:cNvPr id="65" name="Shape 63"/>
          <p:cNvSpPr/>
          <p:nvPr/>
        </p:nvSpPr>
        <p:spPr>
          <a:xfrm>
            <a:off x="5495544" y="1207008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5495544" y="1207008"/>
            <a:ext cx="502920" cy="502920"/>
          </a:xfrm>
          <a:prstGeom prst="rect">
            <a:avLst/>
          </a:prstGeom>
          <a:solidFill>
            <a:srgbClr val="F0F9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5495544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6</a:t>
            </a:r>
            <a:endParaRPr lang="en-US" sz="1000"/>
          </a:p>
        </p:txBody>
      </p:sp>
      <p:sp>
        <p:nvSpPr>
          <p:cNvPr id="68" name="Shape 66"/>
          <p:cNvSpPr/>
          <p:nvPr/>
        </p:nvSpPr>
        <p:spPr>
          <a:xfrm>
            <a:off x="6025896" y="1207008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025896" y="1207008"/>
            <a:ext cx="502920" cy="502920"/>
          </a:xfrm>
          <a:prstGeom prst="rect">
            <a:avLst/>
          </a:prstGeom>
          <a:solidFill>
            <a:srgbClr val="F0F9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6025896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5</a:t>
            </a:r>
            <a:endParaRPr lang="en-US" sz="1000"/>
          </a:p>
        </p:txBody>
      </p:sp>
      <p:sp>
        <p:nvSpPr>
          <p:cNvPr id="71" name="Shape 69"/>
          <p:cNvSpPr/>
          <p:nvPr/>
        </p:nvSpPr>
        <p:spPr>
          <a:xfrm>
            <a:off x="6556248" y="1207008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556248" y="1207008"/>
            <a:ext cx="502920" cy="502920"/>
          </a:xfrm>
          <a:prstGeom prst="rect">
            <a:avLst/>
          </a:prstGeom>
          <a:solidFill>
            <a:srgbClr val="F0F9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6556248" y="12070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5</a:t>
            </a:r>
            <a:endParaRPr lang="en-US" sz="1000"/>
          </a:p>
        </p:txBody>
      </p:sp>
      <p:sp>
        <p:nvSpPr>
          <p:cNvPr id="74" name="Shape 72"/>
          <p:cNvSpPr/>
          <p:nvPr/>
        </p:nvSpPr>
        <p:spPr>
          <a:xfrm>
            <a:off x="4434840" y="1737360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4434840" y="1737360"/>
            <a:ext cx="502920" cy="502920"/>
          </a:xfrm>
          <a:prstGeom prst="rect">
            <a:avLst/>
          </a:prstGeom>
          <a:solidFill>
            <a:srgbClr val="F0F9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4434840" y="17373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7</a:t>
            </a:r>
            <a:endParaRPr lang="en-US" sz="1000"/>
          </a:p>
        </p:txBody>
      </p:sp>
      <p:sp>
        <p:nvSpPr>
          <p:cNvPr id="77" name="Shape 75"/>
          <p:cNvSpPr/>
          <p:nvPr/>
        </p:nvSpPr>
        <p:spPr>
          <a:xfrm>
            <a:off x="4965192" y="1737360"/>
            <a:ext cx="502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4965192" y="17373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■</a:t>
            </a:r>
            <a:endParaRPr lang="en-US" sz="1000"/>
          </a:p>
        </p:txBody>
      </p:sp>
      <p:sp>
        <p:nvSpPr>
          <p:cNvPr id="79" name="Shape 77"/>
          <p:cNvSpPr/>
          <p:nvPr/>
        </p:nvSpPr>
        <p:spPr>
          <a:xfrm>
            <a:off x="5495544" y="1737360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5495544" y="1737360"/>
            <a:ext cx="502920" cy="502920"/>
          </a:xfrm>
          <a:prstGeom prst="rect">
            <a:avLst/>
          </a:prstGeom>
          <a:solidFill>
            <a:srgbClr val="F0F9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495544" y="17373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5</a:t>
            </a:r>
            <a:endParaRPr lang="en-US" sz="1000"/>
          </a:p>
        </p:txBody>
      </p:sp>
      <p:sp>
        <p:nvSpPr>
          <p:cNvPr id="82" name="Shape 80"/>
          <p:cNvSpPr/>
          <p:nvPr/>
        </p:nvSpPr>
        <p:spPr>
          <a:xfrm>
            <a:off x="6025896" y="1737360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6025896" y="1737360"/>
            <a:ext cx="50292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6025896" y="17373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4</a:t>
            </a:r>
            <a:endParaRPr lang="en-US" sz="1000"/>
          </a:p>
        </p:txBody>
      </p:sp>
      <p:sp>
        <p:nvSpPr>
          <p:cNvPr id="85" name="Shape 83"/>
          <p:cNvSpPr/>
          <p:nvPr/>
        </p:nvSpPr>
        <p:spPr>
          <a:xfrm>
            <a:off x="6556248" y="1737360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6556248" y="1737360"/>
            <a:ext cx="50292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6556248" y="173736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4</a:t>
            </a:r>
            <a:endParaRPr lang="en-US" sz="1000"/>
          </a:p>
        </p:txBody>
      </p:sp>
      <p:sp>
        <p:nvSpPr>
          <p:cNvPr id="88" name="Shape 86"/>
          <p:cNvSpPr/>
          <p:nvPr/>
        </p:nvSpPr>
        <p:spPr>
          <a:xfrm>
            <a:off x="4434840" y="2267712"/>
            <a:ext cx="502920" cy="502920"/>
          </a:xfrm>
          <a:prstGeom prst="rect">
            <a:avLst/>
          </a:prstGeom>
          <a:solidFill>
            <a:srgbClr val="06D6A0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434840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D1B2A"/>
                </a:solidFill>
              </a:rPr>
              <a:t>0</a:t>
            </a:r>
            <a:endParaRPr lang="en-US" sz="1000"/>
          </a:p>
        </p:txBody>
      </p:sp>
      <p:sp>
        <p:nvSpPr>
          <p:cNvPr id="90" name="Shape 88"/>
          <p:cNvSpPr/>
          <p:nvPr/>
        </p:nvSpPr>
        <p:spPr>
          <a:xfrm>
            <a:off x="4965192" y="2267712"/>
            <a:ext cx="502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4965192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■</a:t>
            </a:r>
            <a:endParaRPr lang="en-US" sz="1000"/>
          </a:p>
        </p:txBody>
      </p:sp>
      <p:sp>
        <p:nvSpPr>
          <p:cNvPr id="92" name="Shape 90"/>
          <p:cNvSpPr/>
          <p:nvPr/>
        </p:nvSpPr>
        <p:spPr>
          <a:xfrm>
            <a:off x="5495544" y="2267712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Shape 91"/>
          <p:cNvSpPr/>
          <p:nvPr/>
        </p:nvSpPr>
        <p:spPr>
          <a:xfrm>
            <a:off x="5495544" y="2267712"/>
            <a:ext cx="50292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Text 92"/>
          <p:cNvSpPr/>
          <p:nvPr/>
        </p:nvSpPr>
        <p:spPr>
          <a:xfrm>
            <a:off x="5495544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4</a:t>
            </a:r>
            <a:endParaRPr lang="en-US" sz="1000"/>
          </a:p>
        </p:txBody>
      </p:sp>
      <p:sp>
        <p:nvSpPr>
          <p:cNvPr id="95" name="Shape 93"/>
          <p:cNvSpPr/>
          <p:nvPr/>
        </p:nvSpPr>
        <p:spPr>
          <a:xfrm>
            <a:off x="6025896" y="2267712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94"/>
          <p:cNvSpPr/>
          <p:nvPr/>
        </p:nvSpPr>
        <p:spPr>
          <a:xfrm>
            <a:off x="6025896" y="2267712"/>
            <a:ext cx="50292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6025896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3</a:t>
            </a:r>
            <a:endParaRPr lang="en-US" sz="1000"/>
          </a:p>
        </p:txBody>
      </p:sp>
      <p:sp>
        <p:nvSpPr>
          <p:cNvPr id="98" name="Shape 96"/>
          <p:cNvSpPr/>
          <p:nvPr/>
        </p:nvSpPr>
        <p:spPr>
          <a:xfrm>
            <a:off x="6556248" y="2267712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Shape 97"/>
          <p:cNvSpPr/>
          <p:nvPr/>
        </p:nvSpPr>
        <p:spPr>
          <a:xfrm>
            <a:off x="6556248" y="2267712"/>
            <a:ext cx="50292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0" name="Text 98"/>
          <p:cNvSpPr/>
          <p:nvPr/>
        </p:nvSpPr>
        <p:spPr>
          <a:xfrm>
            <a:off x="6556248" y="226771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3</a:t>
            </a:r>
            <a:endParaRPr lang="en-US" sz="1000"/>
          </a:p>
        </p:txBody>
      </p:sp>
      <p:sp>
        <p:nvSpPr>
          <p:cNvPr id="101" name="Shape 99"/>
          <p:cNvSpPr/>
          <p:nvPr/>
        </p:nvSpPr>
        <p:spPr>
          <a:xfrm>
            <a:off x="4434840" y="2798064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2" name="Shape 100"/>
          <p:cNvSpPr/>
          <p:nvPr/>
        </p:nvSpPr>
        <p:spPr>
          <a:xfrm>
            <a:off x="4434840" y="2798064"/>
            <a:ext cx="502920" cy="502920"/>
          </a:xfrm>
          <a:prstGeom prst="rect">
            <a:avLst/>
          </a:prstGeom>
          <a:solidFill>
            <a:srgbClr val="F0F9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4434840" y="27980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5</a:t>
            </a:r>
            <a:endParaRPr lang="en-US" sz="1000"/>
          </a:p>
        </p:txBody>
      </p:sp>
      <p:sp>
        <p:nvSpPr>
          <p:cNvPr id="104" name="Shape 102"/>
          <p:cNvSpPr/>
          <p:nvPr/>
        </p:nvSpPr>
        <p:spPr>
          <a:xfrm>
            <a:off x="4965192" y="2798064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Shape 103"/>
          <p:cNvSpPr/>
          <p:nvPr/>
        </p:nvSpPr>
        <p:spPr>
          <a:xfrm>
            <a:off x="4965192" y="2798064"/>
            <a:ext cx="50292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Text 104"/>
          <p:cNvSpPr/>
          <p:nvPr/>
        </p:nvSpPr>
        <p:spPr>
          <a:xfrm>
            <a:off x="4965192" y="27980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4</a:t>
            </a:r>
            <a:endParaRPr lang="en-US" sz="1000"/>
          </a:p>
        </p:txBody>
      </p:sp>
      <p:sp>
        <p:nvSpPr>
          <p:cNvPr id="107" name="Shape 105"/>
          <p:cNvSpPr/>
          <p:nvPr/>
        </p:nvSpPr>
        <p:spPr>
          <a:xfrm>
            <a:off x="5495544" y="2798064"/>
            <a:ext cx="502920" cy="50292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 106"/>
          <p:cNvSpPr/>
          <p:nvPr/>
        </p:nvSpPr>
        <p:spPr>
          <a:xfrm>
            <a:off x="5495544" y="27980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■</a:t>
            </a:r>
            <a:endParaRPr lang="en-US" sz="1000"/>
          </a:p>
        </p:txBody>
      </p:sp>
      <p:sp>
        <p:nvSpPr>
          <p:cNvPr id="109" name="Shape 107"/>
          <p:cNvSpPr/>
          <p:nvPr/>
        </p:nvSpPr>
        <p:spPr>
          <a:xfrm>
            <a:off x="6025896" y="2798064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0" name="Shape 108"/>
          <p:cNvSpPr/>
          <p:nvPr/>
        </p:nvSpPr>
        <p:spPr>
          <a:xfrm>
            <a:off x="6025896" y="2798064"/>
            <a:ext cx="502920" cy="502920"/>
          </a:xfrm>
          <a:prstGeom prst="rect">
            <a:avLst/>
          </a:prstGeom>
          <a:solidFill>
            <a:srgbClr val="BAE6FD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6025896" y="27980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2</a:t>
            </a:r>
            <a:endParaRPr lang="en-US" sz="1000"/>
          </a:p>
        </p:txBody>
      </p:sp>
      <p:sp>
        <p:nvSpPr>
          <p:cNvPr id="112" name="Shape 110"/>
          <p:cNvSpPr/>
          <p:nvPr/>
        </p:nvSpPr>
        <p:spPr>
          <a:xfrm>
            <a:off x="6556248" y="2798064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Shape 111"/>
          <p:cNvSpPr/>
          <p:nvPr/>
        </p:nvSpPr>
        <p:spPr>
          <a:xfrm>
            <a:off x="6556248" y="2798064"/>
            <a:ext cx="502920" cy="502920"/>
          </a:xfrm>
          <a:prstGeom prst="rect">
            <a:avLst/>
          </a:prstGeom>
          <a:solidFill>
            <a:srgbClr val="BAE6FD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4" name="Text 112"/>
          <p:cNvSpPr/>
          <p:nvPr/>
        </p:nvSpPr>
        <p:spPr>
          <a:xfrm>
            <a:off x="6556248" y="2798064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2</a:t>
            </a:r>
            <a:endParaRPr lang="en-US" sz="1000"/>
          </a:p>
        </p:txBody>
      </p:sp>
      <p:sp>
        <p:nvSpPr>
          <p:cNvPr id="115" name="Shape 113"/>
          <p:cNvSpPr/>
          <p:nvPr/>
        </p:nvSpPr>
        <p:spPr>
          <a:xfrm>
            <a:off x="4434840" y="3328416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Shape 114"/>
          <p:cNvSpPr/>
          <p:nvPr/>
        </p:nvSpPr>
        <p:spPr>
          <a:xfrm>
            <a:off x="4434840" y="3328416"/>
            <a:ext cx="502920" cy="502920"/>
          </a:xfrm>
          <a:prstGeom prst="rect">
            <a:avLst/>
          </a:prstGeom>
          <a:solidFill>
            <a:srgbClr val="F0F9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4434840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5</a:t>
            </a:r>
            <a:endParaRPr lang="en-US" sz="1000"/>
          </a:p>
        </p:txBody>
      </p:sp>
      <p:sp>
        <p:nvSpPr>
          <p:cNvPr id="118" name="Shape 116"/>
          <p:cNvSpPr/>
          <p:nvPr/>
        </p:nvSpPr>
        <p:spPr>
          <a:xfrm>
            <a:off x="4965192" y="3328416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Shape 117"/>
          <p:cNvSpPr/>
          <p:nvPr/>
        </p:nvSpPr>
        <p:spPr>
          <a:xfrm>
            <a:off x="4965192" y="3328416"/>
            <a:ext cx="50292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0" name="Text 118"/>
          <p:cNvSpPr/>
          <p:nvPr/>
        </p:nvSpPr>
        <p:spPr>
          <a:xfrm>
            <a:off x="4965192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4</a:t>
            </a:r>
            <a:endParaRPr lang="en-US" sz="1000"/>
          </a:p>
        </p:txBody>
      </p:sp>
      <p:sp>
        <p:nvSpPr>
          <p:cNvPr id="121" name="Shape 119"/>
          <p:cNvSpPr/>
          <p:nvPr/>
        </p:nvSpPr>
        <p:spPr>
          <a:xfrm>
            <a:off x="5495544" y="3328416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2" name="Shape 120"/>
          <p:cNvSpPr/>
          <p:nvPr/>
        </p:nvSpPr>
        <p:spPr>
          <a:xfrm>
            <a:off x="5495544" y="3328416"/>
            <a:ext cx="502920" cy="502920"/>
          </a:xfrm>
          <a:prstGeom prst="rect">
            <a:avLst/>
          </a:prstGeom>
          <a:solidFill>
            <a:srgbClr val="E0F2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3" name="Text 121"/>
          <p:cNvSpPr/>
          <p:nvPr/>
        </p:nvSpPr>
        <p:spPr>
          <a:xfrm>
            <a:off x="5495544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4</a:t>
            </a:r>
            <a:endParaRPr lang="en-US" sz="1000"/>
          </a:p>
        </p:txBody>
      </p:sp>
      <p:sp>
        <p:nvSpPr>
          <p:cNvPr id="124" name="Shape 122"/>
          <p:cNvSpPr/>
          <p:nvPr/>
        </p:nvSpPr>
        <p:spPr>
          <a:xfrm>
            <a:off x="6025896" y="3328416"/>
            <a:ext cx="502920" cy="50292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5" name="Shape 123"/>
          <p:cNvSpPr/>
          <p:nvPr/>
        </p:nvSpPr>
        <p:spPr>
          <a:xfrm>
            <a:off x="6025896" y="3328416"/>
            <a:ext cx="502920" cy="502920"/>
          </a:xfrm>
          <a:prstGeom prst="rect">
            <a:avLst/>
          </a:prstGeom>
          <a:solidFill>
            <a:srgbClr val="BAE6FD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6" name="Text 124"/>
          <p:cNvSpPr/>
          <p:nvPr/>
        </p:nvSpPr>
        <p:spPr>
          <a:xfrm>
            <a:off x="6025896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077B6"/>
                </a:solidFill>
              </a:rPr>
              <a:t>1</a:t>
            </a:r>
            <a:endParaRPr lang="en-US" sz="1000"/>
          </a:p>
        </p:txBody>
      </p:sp>
      <p:sp>
        <p:nvSpPr>
          <p:cNvPr id="127" name="Shape 125"/>
          <p:cNvSpPr/>
          <p:nvPr/>
        </p:nvSpPr>
        <p:spPr>
          <a:xfrm>
            <a:off x="6556248" y="3328416"/>
            <a:ext cx="502920" cy="502920"/>
          </a:xfrm>
          <a:prstGeom prst="rect">
            <a:avLst/>
          </a:prstGeom>
          <a:solidFill>
            <a:srgbClr val="F72585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Text 126"/>
          <p:cNvSpPr/>
          <p:nvPr/>
        </p:nvSpPr>
        <p:spPr>
          <a:xfrm>
            <a:off x="6556248" y="332841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FFFFFF"/>
                </a:solidFill>
              </a:rPr>
              <a:t>G</a:t>
            </a:r>
            <a:endParaRPr lang="en-US" sz="1000"/>
          </a:p>
        </p:txBody>
      </p:sp>
      <p:sp>
        <p:nvSpPr>
          <p:cNvPr id="129" name="Text 127"/>
          <p:cNvSpPr/>
          <p:nvPr/>
        </p:nvSpPr>
        <p:spPr>
          <a:xfrm>
            <a:off x="4434840" y="38862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h-values updated for all expanded nodes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gradient pointing toward goal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h(n) = f_best − g(n)</a:t>
            </a:r>
            <a:endParaRPr lang="en-US" sz="10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Variants — Feature Combinations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164592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8229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1965960" y="822960"/>
            <a:ext cx="82296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65960" y="8229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150"/>
          </a:p>
        </p:txBody>
      </p:sp>
      <p:sp>
        <p:nvSpPr>
          <p:cNvPr id="11" name="Shape 9"/>
          <p:cNvSpPr/>
          <p:nvPr/>
        </p:nvSpPr>
        <p:spPr>
          <a:xfrm>
            <a:off x="2834640" y="822960"/>
            <a:ext cx="82296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4640" y="82296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150"/>
          </a:p>
        </p:txBody>
      </p:sp>
      <p:sp>
        <p:nvSpPr>
          <p:cNvPr id="13" name="Shape 11"/>
          <p:cNvSpPr/>
          <p:nvPr/>
        </p:nvSpPr>
        <p:spPr>
          <a:xfrm>
            <a:off x="3749040" y="822960"/>
            <a:ext cx="219456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49040" y="8229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50"/>
          </a:p>
        </p:txBody>
      </p:sp>
      <p:sp>
        <p:nvSpPr>
          <p:cNvPr id="15" name="Shape 13"/>
          <p:cNvSpPr/>
          <p:nvPr/>
        </p:nvSpPr>
        <p:spPr>
          <a:xfrm>
            <a:off x="6035040" y="822960"/>
            <a:ext cx="2834640" cy="38404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35040" y="82296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</a:t>
            </a:r>
            <a:endParaRPr lang="en-US" sz="1150"/>
          </a:p>
        </p:txBody>
      </p:sp>
      <p:sp>
        <p:nvSpPr>
          <p:cNvPr id="17" name="Shape 15"/>
          <p:cNvSpPr/>
          <p:nvPr/>
        </p:nvSpPr>
        <p:spPr>
          <a:xfrm>
            <a:off x="274320" y="1261872"/>
            <a:ext cx="8595360" cy="713232"/>
          </a:xfrm>
          <a:prstGeom prst="rect">
            <a:avLst/>
          </a:prstGeom>
          <a:solidFill>
            <a:srgbClr val="00B4D8">
              <a:alpha val="15000"/>
            </a:srgbClr>
          </a:solidFill>
          <a:ln w="1016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2608" y="1261872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BMAA*</a:t>
            </a:r>
            <a:endParaRPr lang="en-US" sz="1400"/>
          </a:p>
        </p:txBody>
      </p:sp>
      <p:sp>
        <p:nvSpPr>
          <p:cNvPr id="19" name="Shape 17"/>
          <p:cNvSpPr/>
          <p:nvPr/>
        </p:nvSpPr>
        <p:spPr>
          <a:xfrm>
            <a:off x="2148840" y="1426464"/>
            <a:ext cx="384048" cy="384048"/>
          </a:xfrm>
          <a:prstGeom prst="ellipse">
            <a:avLst/>
          </a:prstGeom>
          <a:solidFill>
            <a:srgbClr val="F72585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148840" y="1426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72585"/>
                </a:solidFill>
              </a:rPr>
              <a:t>✗</a:t>
            </a:r>
            <a:endParaRPr lang="en-US" sz="1300"/>
          </a:p>
        </p:txBody>
      </p:sp>
      <p:sp>
        <p:nvSpPr>
          <p:cNvPr id="21" name="Shape 19"/>
          <p:cNvSpPr/>
          <p:nvPr/>
        </p:nvSpPr>
        <p:spPr>
          <a:xfrm>
            <a:off x="2999232" y="1426464"/>
            <a:ext cx="384048" cy="384048"/>
          </a:xfrm>
          <a:prstGeom prst="ellipse">
            <a:avLst/>
          </a:prstGeom>
          <a:solidFill>
            <a:srgbClr val="F72585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999232" y="14264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72585"/>
                </a:solidFill>
              </a:rPr>
              <a:t>✗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3767328" y="133502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version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3767328" y="164592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no coordination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6080760" y="140817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no coordination</a:t>
            </a:r>
            <a:endParaRPr lang="en-US" sz="1100"/>
          </a:p>
        </p:txBody>
      </p:sp>
      <p:sp>
        <p:nvSpPr>
          <p:cNvPr id="26" name="Shape 24"/>
          <p:cNvSpPr/>
          <p:nvPr/>
        </p:nvSpPr>
        <p:spPr>
          <a:xfrm>
            <a:off x="274320" y="2039112"/>
            <a:ext cx="8595360" cy="713232"/>
          </a:xfrm>
          <a:prstGeom prst="rect">
            <a:avLst/>
          </a:prstGeom>
          <a:solidFill>
            <a:srgbClr val="06D6A0">
              <a:alpha val="15000"/>
            </a:srgbClr>
          </a:solidFill>
          <a:ln w="1016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92608" y="2039112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BMAA*-c</a:t>
            </a:r>
            <a:endParaRPr lang="en-US" sz="1400"/>
          </a:p>
        </p:txBody>
      </p:sp>
      <p:sp>
        <p:nvSpPr>
          <p:cNvPr id="28" name="Shape 26"/>
          <p:cNvSpPr/>
          <p:nvPr/>
        </p:nvSpPr>
        <p:spPr>
          <a:xfrm>
            <a:off x="2148840" y="2203704"/>
            <a:ext cx="384048" cy="384048"/>
          </a:xfrm>
          <a:prstGeom prst="ellipse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48840" y="2203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D6A0"/>
                </a:solidFill>
              </a:rPr>
              <a:t>✓</a:t>
            </a:r>
            <a:endParaRPr lang="en-US" sz="1300"/>
          </a:p>
        </p:txBody>
      </p:sp>
      <p:sp>
        <p:nvSpPr>
          <p:cNvPr id="30" name="Shape 28"/>
          <p:cNvSpPr/>
          <p:nvPr/>
        </p:nvSpPr>
        <p:spPr>
          <a:xfrm>
            <a:off x="2999232" y="2203704"/>
            <a:ext cx="384048" cy="384048"/>
          </a:xfrm>
          <a:prstGeom prst="ellipse">
            <a:avLst/>
          </a:prstGeom>
          <a:solidFill>
            <a:srgbClr val="F72585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999232" y="22037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72585"/>
                </a:solidFill>
              </a:rPr>
              <a:t>✗</a:t>
            </a:r>
            <a:endParaRPr lang="en-US" sz="1300"/>
          </a:p>
        </p:txBody>
      </p:sp>
      <p:sp>
        <p:nvSpPr>
          <p:cNvPr id="32" name="Text 30"/>
          <p:cNvSpPr/>
          <p:nvPr/>
        </p:nvSpPr>
        <p:spPr>
          <a:xfrm>
            <a:off x="3767328" y="211226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enabled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3767328" y="242316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goal-blocking agents</a:t>
            </a:r>
            <a:endParaRPr lang="en-US" sz="1000"/>
          </a:p>
        </p:txBody>
      </p:sp>
      <p:sp>
        <p:nvSpPr>
          <p:cNvPr id="34" name="Text 32"/>
          <p:cNvSpPr/>
          <p:nvPr/>
        </p:nvSpPr>
        <p:spPr>
          <a:xfrm>
            <a:off x="6080760" y="218541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goal-blocking agents</a:t>
            </a:r>
            <a:endParaRPr lang="en-US" sz="1100"/>
          </a:p>
        </p:txBody>
      </p:sp>
      <p:sp>
        <p:nvSpPr>
          <p:cNvPr id="35" name="Shape 33"/>
          <p:cNvSpPr/>
          <p:nvPr/>
        </p:nvSpPr>
        <p:spPr>
          <a:xfrm>
            <a:off x="274320" y="2816352"/>
            <a:ext cx="8595360" cy="713232"/>
          </a:xfrm>
          <a:prstGeom prst="rect">
            <a:avLst/>
          </a:prstGeom>
          <a:solidFill>
            <a:srgbClr val="FFD166">
              <a:alpha val="15000"/>
            </a:srgbClr>
          </a:solidFill>
          <a:ln w="1016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92608" y="2816352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BMAA*-f</a:t>
            </a:r>
            <a:endParaRPr lang="en-US" sz="1400"/>
          </a:p>
        </p:txBody>
      </p:sp>
      <p:sp>
        <p:nvSpPr>
          <p:cNvPr id="37" name="Shape 35"/>
          <p:cNvSpPr/>
          <p:nvPr/>
        </p:nvSpPr>
        <p:spPr>
          <a:xfrm>
            <a:off x="2148840" y="2980944"/>
            <a:ext cx="384048" cy="384048"/>
          </a:xfrm>
          <a:prstGeom prst="ellipse">
            <a:avLst/>
          </a:prstGeom>
          <a:solidFill>
            <a:srgbClr val="F72585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2148840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72585"/>
                </a:solidFill>
              </a:rPr>
              <a:t>✗</a:t>
            </a:r>
            <a:endParaRPr lang="en-US" sz="1300"/>
          </a:p>
        </p:txBody>
      </p:sp>
      <p:sp>
        <p:nvSpPr>
          <p:cNvPr id="39" name="Shape 37"/>
          <p:cNvSpPr/>
          <p:nvPr/>
        </p:nvSpPr>
        <p:spPr>
          <a:xfrm>
            <a:off x="2999232" y="2980944"/>
            <a:ext cx="384048" cy="384048"/>
          </a:xfrm>
          <a:prstGeom prst="ellipse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2999232" y="29809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D6A0"/>
                </a:solidFill>
              </a:rPr>
              <a:t>✓</a:t>
            </a:r>
            <a:endParaRPr lang="en-US" sz="1300"/>
          </a:p>
        </p:txBody>
      </p:sp>
      <p:sp>
        <p:nvSpPr>
          <p:cNvPr id="41" name="Text 39"/>
          <p:cNvSpPr/>
          <p:nvPr/>
        </p:nvSpPr>
        <p:spPr>
          <a:xfrm>
            <a:off x="3767328" y="288950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annotations</a:t>
            </a:r>
            <a:endParaRPr lang="en-US" sz="1150"/>
          </a:p>
        </p:txBody>
      </p:sp>
      <p:sp>
        <p:nvSpPr>
          <p:cNvPr id="42" name="Text 40"/>
          <p:cNvSpPr/>
          <p:nvPr/>
        </p:nvSpPr>
        <p:spPr>
          <a:xfrm>
            <a:off x="3767328" y="320040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head-on collisions</a:t>
            </a:r>
            <a:endParaRPr lang="en-US" sz="1000"/>
          </a:p>
        </p:txBody>
      </p:sp>
      <p:sp>
        <p:nvSpPr>
          <p:cNvPr id="43" name="Text 41"/>
          <p:cNvSpPr/>
          <p:nvPr/>
        </p:nvSpPr>
        <p:spPr>
          <a:xfrm>
            <a:off x="6080760" y="296265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head-on collisions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274320" y="3593592"/>
            <a:ext cx="8595360" cy="713232"/>
          </a:xfrm>
          <a:prstGeom prst="rect">
            <a:avLst/>
          </a:prstGeom>
          <a:solidFill>
            <a:srgbClr val="FB8500">
              <a:alpha val="15000"/>
            </a:srgbClr>
          </a:solidFill>
          <a:ln w="1016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92608" y="3593592"/>
            <a:ext cx="162763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BMAA*-f-c</a:t>
            </a:r>
            <a:endParaRPr lang="en-US" sz="1400"/>
          </a:p>
        </p:txBody>
      </p:sp>
      <p:sp>
        <p:nvSpPr>
          <p:cNvPr id="46" name="Shape 44"/>
          <p:cNvSpPr/>
          <p:nvPr/>
        </p:nvSpPr>
        <p:spPr>
          <a:xfrm>
            <a:off x="2148840" y="3758184"/>
            <a:ext cx="384048" cy="384048"/>
          </a:xfrm>
          <a:prstGeom prst="ellipse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148840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D6A0"/>
                </a:solidFill>
              </a:rPr>
              <a:t>✓</a:t>
            </a:r>
            <a:endParaRPr lang="en-US" sz="1300"/>
          </a:p>
        </p:txBody>
      </p:sp>
      <p:sp>
        <p:nvSpPr>
          <p:cNvPr id="48" name="Shape 46"/>
          <p:cNvSpPr/>
          <p:nvPr/>
        </p:nvSpPr>
        <p:spPr>
          <a:xfrm>
            <a:off x="2999232" y="3758184"/>
            <a:ext cx="384048" cy="384048"/>
          </a:xfrm>
          <a:prstGeom prst="ellipse">
            <a:avLst/>
          </a:prstGeom>
          <a:solidFill>
            <a:srgbClr val="06D6A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2999232" y="375818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06D6A0"/>
                </a:solidFill>
              </a:rPr>
              <a:t>✓</a:t>
            </a:r>
            <a:endParaRPr lang="en-US" sz="1300"/>
          </a:p>
        </p:txBody>
      </p:sp>
      <p:sp>
        <p:nvSpPr>
          <p:cNvPr id="50" name="Text 48"/>
          <p:cNvSpPr/>
          <p:nvPr/>
        </p:nvSpPr>
        <p:spPr>
          <a:xfrm>
            <a:off x="3767328" y="3666744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Flow</a:t>
            </a:r>
            <a:endParaRPr lang="en-US" sz="1150"/>
          </a:p>
        </p:txBody>
      </p:sp>
      <p:sp>
        <p:nvSpPr>
          <p:cNvPr id="51" name="Text 49"/>
          <p:cNvSpPr/>
          <p:nvPr/>
        </p:nvSpPr>
        <p:spPr>
          <a:xfrm>
            <a:off x="3767328" y="3977640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(7/10 maps)</a:t>
            </a:r>
            <a:endParaRPr lang="en-US" sz="1000"/>
          </a:p>
        </p:txBody>
      </p:sp>
      <p:sp>
        <p:nvSpPr>
          <p:cNvPr id="52" name="Text 50"/>
          <p:cNvSpPr/>
          <p:nvPr/>
        </p:nvSpPr>
        <p:spPr>
          <a:xfrm>
            <a:off x="6080760" y="3739896"/>
            <a:ext cx="2743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(7/10 maps)</a:t>
            </a:r>
            <a:endParaRPr lang="en-US" sz="1100"/>
          </a:p>
        </p:txBody>
      </p:sp>
      <p:sp>
        <p:nvSpPr>
          <p:cNvPr id="53" name="Text 51"/>
          <p:cNvSpPr/>
          <p:nvPr/>
        </p:nvSpPr>
        <p:spPr>
          <a:xfrm>
            <a:off x="274320" y="44348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variants: lookahead=32, moves=32, vision=√2, octile heuristic</a:t>
            </a:r>
            <a:endParaRPr lang="en-US" sz="105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731520"/>
            <a:ext cx="3200400" cy="32004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498080" y="2560320"/>
            <a:ext cx="2011680" cy="201168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| Experiments &amp; Results</a:t>
            </a:r>
            <a:endParaRPr lang="en-US" sz="380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on MovingAI benchmark maps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74320" y="4773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| BMAA*</a:t>
            </a:r>
            <a:endParaRPr lang="en-US" sz="1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4114800" cy="3200400"/>
          </a:xfrm>
          <a:prstGeom prst="rect">
            <a:avLst/>
          </a:prstGeom>
          <a:solidFill>
            <a:srgbClr val="FB8500">
              <a:alpha val="12000"/>
            </a:srgbClr>
          </a:solidFill>
          <a:ln w="1905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14800" cy="384048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822960"/>
            <a:ext cx="3968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Maps (10 total)</a:t>
            </a:r>
            <a:endParaRPr lang="en-US" sz="1200"/>
          </a:p>
        </p:txBody>
      </p:sp>
      <p:sp>
        <p:nvSpPr>
          <p:cNvPr id="10" name="Text 8"/>
          <p:cNvSpPr/>
          <p:nvPr/>
        </p:nvSpPr>
        <p:spPr>
          <a:xfrm>
            <a:off x="365760" y="1261872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Dragon Age: Origins (DAO) — 3 maps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WarCraft III (WCIII) — 3 maps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Baldur's Gate II (BGII) — 3 maps (512×512)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Baldur's Gate II — 1 original size map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MovingAI benchmark dataset</a:t>
            </a:r>
            <a:endParaRPr lang="en-US" sz="1200"/>
          </a:p>
        </p:txBody>
      </p:sp>
      <p:sp>
        <p:nvSpPr>
          <p:cNvPr id="11" name="Shape 9"/>
          <p:cNvSpPr/>
          <p:nvPr/>
        </p:nvSpPr>
        <p:spPr>
          <a:xfrm>
            <a:off x="4754880" y="822960"/>
            <a:ext cx="4114800" cy="3200400"/>
          </a:xfrm>
          <a:prstGeom prst="rect">
            <a:avLst/>
          </a:prstGeom>
          <a:solidFill>
            <a:srgbClr val="0077B6">
              <a:alpha val="12000"/>
            </a:srgbClr>
          </a:solidFill>
          <a:ln w="1905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754880" y="822960"/>
            <a:ext cx="4114800" cy="384048"/>
          </a:xfrm>
          <a:prstGeom prst="rect">
            <a:avLst/>
          </a:prstGeom>
          <a:solidFill>
            <a:srgbClr val="0077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28032" y="822960"/>
            <a:ext cx="3968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Settings</a:t>
            </a:r>
            <a:endParaRPr lang="en-US" sz="1200"/>
          </a:p>
        </p:txBody>
      </p:sp>
      <p:sp>
        <p:nvSpPr>
          <p:cNvPr id="14" name="Text 12"/>
          <p:cNvSpPr/>
          <p:nvPr/>
        </p:nvSpPr>
        <p:spPr>
          <a:xfrm>
            <a:off x="4846320" y="1261872"/>
            <a:ext cx="3931920" cy="2651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params: lookahead=32, moves=32, vision=√2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/ A*-Replan: reservation size = 3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Heuristic: Octile distance (all algorithms)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implementation, single Intel Broadwell 2.1GHz core</a:t>
            </a:r>
            <a:endParaRPr lang="en-US" sz="120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GB RAM, 30 second runtime limit per instance</a:t>
            </a:r>
          </a:p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Travel Distance ∝ 1 / Lookahead</a:t>
            </a:r>
            <a:br>
              <a:rPr lang="en-US" sz="1200"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(Lookahead ↑ → Travel distance ↓, but search time per move ↑)</a:t>
            </a:r>
          </a:p>
          <a:p>
            <a:pPr marL="342900" indent="-342900">
              <a:spcAft>
                <a:spcPts val="600"/>
              </a:spcAft>
              <a:buSzPct val="100000"/>
              <a:buFont typeface="Arial"/>
              <a:buChar char="•"/>
            </a:pP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Completion Rate ∝ 1 / Vision</a:t>
            </a:r>
            <a:br>
              <a:rPr lang="en-US" sz="1200">
                <a:latin typeface="Calibri"/>
                <a:ea typeface="Calibri"/>
                <a:cs typeface="Calibri"/>
              </a:rPr>
            </a:b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(Vision ↑ → Agents react to far agents → Completion rate ↓)</a:t>
            </a:r>
            <a:endParaRPr lang="en-US" sz="1200">
              <a:solidFill>
                <a:srgbClr val="0D1B2A"/>
              </a:solidFill>
              <a:ea typeface="Calibri" panose="020F0502020204030204"/>
              <a:cs typeface="Calibri" panose="020F0502020204030204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endParaRPr lang="en-US" sz="1200">
              <a:solidFill>
                <a:srgbClr val="0D1B2A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1E293B">
              <a:alpha val="15000"/>
            </a:srgbClr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41788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Counts Tested: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11480" y="445312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to 400 agents  (increments of 25)   +   400 to 2000 agents  (increments of 200)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11480" y="4224528"/>
            <a:ext cx="8321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MAPF instances per map  |  Unique random start &amp; goal per agent</a:t>
            </a:r>
            <a:endParaRPr lang="en-US" sz="95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Aggregate Completion Rates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804672"/>
          <a:ext cx="594360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492240" y="84124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/>
          </a:p>
        </p:txBody>
      </p:sp>
      <p:sp>
        <p:nvSpPr>
          <p:cNvPr id="9" name="Shape 6"/>
          <p:cNvSpPr/>
          <p:nvPr/>
        </p:nvSpPr>
        <p:spPr>
          <a:xfrm>
            <a:off x="6492240" y="1261872"/>
            <a:ext cx="2423160" cy="566928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37960" y="1289304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&gt; FAR</a:t>
            </a:r>
            <a:endParaRPr lang="en-US" sz="1050"/>
          </a:p>
        </p:txBody>
      </p:sp>
      <p:sp>
        <p:nvSpPr>
          <p:cNvPr id="11" name="Text 8"/>
          <p:cNvSpPr/>
          <p:nvPr/>
        </p:nvSpPr>
        <p:spPr>
          <a:xfrm>
            <a:off x="6537960" y="149961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Significantly higher rates for &gt;200 agents</a:t>
            </a:r>
            <a:endParaRPr lang="en-US" sz="900"/>
          </a:p>
        </p:txBody>
      </p:sp>
      <p:sp>
        <p:nvSpPr>
          <p:cNvPr id="12" name="Shape 9"/>
          <p:cNvSpPr/>
          <p:nvPr/>
        </p:nvSpPr>
        <p:spPr>
          <a:xfrm>
            <a:off x="6492240" y="1883664"/>
            <a:ext cx="2423160" cy="566928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537960" y="1911096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helps</a:t>
            </a:r>
            <a:endParaRPr lang="en-US" sz="1050"/>
          </a:p>
        </p:txBody>
      </p:sp>
      <p:sp>
        <p:nvSpPr>
          <p:cNvPr id="14" name="Text 11"/>
          <p:cNvSpPr/>
          <p:nvPr/>
        </p:nvSpPr>
        <p:spPr>
          <a:xfrm>
            <a:off x="6537960" y="21214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BMAA*-c/-f-c slightly &gt; BMAA*</a:t>
            </a:r>
            <a:endParaRPr lang="en-US" sz="900"/>
          </a:p>
        </p:txBody>
      </p:sp>
      <p:sp>
        <p:nvSpPr>
          <p:cNvPr id="15" name="Shape 12"/>
          <p:cNvSpPr/>
          <p:nvPr/>
        </p:nvSpPr>
        <p:spPr>
          <a:xfrm>
            <a:off x="6492240" y="2505456"/>
            <a:ext cx="2423160" cy="566928"/>
          </a:xfrm>
          <a:prstGeom prst="rect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537960" y="2532888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helps</a:t>
            </a:r>
            <a:endParaRPr lang="en-US" sz="1050"/>
          </a:p>
        </p:txBody>
      </p:sp>
      <p:sp>
        <p:nvSpPr>
          <p:cNvPr id="17" name="Text 14"/>
          <p:cNvSpPr/>
          <p:nvPr/>
        </p:nvSpPr>
        <p:spPr>
          <a:xfrm>
            <a:off x="6537960" y="2743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BMAA*-f/-f-c best on 7/10 maps</a:t>
            </a:r>
            <a:endParaRPr lang="en-US" sz="900"/>
          </a:p>
        </p:txBody>
      </p:sp>
      <p:sp>
        <p:nvSpPr>
          <p:cNvPr id="18" name="Shape 15"/>
          <p:cNvSpPr/>
          <p:nvPr/>
        </p:nvSpPr>
        <p:spPr>
          <a:xfrm>
            <a:off x="6492240" y="3127248"/>
            <a:ext cx="2423160" cy="566928"/>
          </a:xfrm>
          <a:prstGeom prst="rect">
            <a:avLst/>
          </a:prstGeom>
          <a:solidFill>
            <a:srgbClr val="F72585">
              <a:alpha val="18000"/>
            </a:srgbClr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537960" y="3154680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collapses</a:t>
            </a:r>
            <a:endParaRPr lang="en-US" sz="1050"/>
          </a:p>
        </p:txBody>
      </p:sp>
      <p:sp>
        <p:nvSpPr>
          <p:cNvPr id="20" name="Text 17"/>
          <p:cNvSpPr/>
          <p:nvPr/>
        </p:nvSpPr>
        <p:spPr>
          <a:xfrm>
            <a:off x="6537960" y="3364992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0% for 1000+ agents</a:t>
            </a:r>
            <a:endParaRPr lang="en-US" sz="900"/>
          </a:p>
        </p:txBody>
      </p:sp>
      <p:sp>
        <p:nvSpPr>
          <p:cNvPr id="21" name="Shape 18"/>
          <p:cNvSpPr/>
          <p:nvPr/>
        </p:nvSpPr>
        <p:spPr>
          <a:xfrm>
            <a:off x="6492240" y="3749040"/>
            <a:ext cx="2423160" cy="566928"/>
          </a:xfrm>
          <a:prstGeom prst="rect">
            <a:avLst/>
          </a:prstGeom>
          <a:solidFill>
            <a:srgbClr val="FB8500">
              <a:alpha val="18000"/>
            </a:srgbClr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537960" y="3776472"/>
            <a:ext cx="2331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scales</a:t>
            </a:r>
            <a:endParaRPr lang="en-US" sz="1050"/>
          </a:p>
        </p:txBody>
      </p:sp>
      <p:sp>
        <p:nvSpPr>
          <p:cNvPr id="23" name="Text 20"/>
          <p:cNvSpPr/>
          <p:nvPr/>
        </p:nvSpPr>
        <p:spPr>
          <a:xfrm>
            <a:off x="6537960" y="39867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26-38% at 2000 agents</a:t>
            </a:r>
            <a:endParaRPr lang="en-US" sz="9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Completion Time &amp; Travel Distance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82296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663440" y="822960"/>
          <a:ext cx="42062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274320" y="3547872"/>
            <a:ext cx="2788920" cy="1188720"/>
          </a:xfrm>
          <a:prstGeom prst="rect">
            <a:avLst/>
          </a:prstGeom>
          <a:solidFill>
            <a:srgbClr val="00B4D8">
              <a:alpha val="18000"/>
            </a:srgbClr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6"/>
          <p:cNvSpPr/>
          <p:nvPr/>
        </p:nvSpPr>
        <p:spPr>
          <a:xfrm>
            <a:off x="274320" y="3547872"/>
            <a:ext cx="278892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347472" y="3557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BMAA* is Fastest</a:t>
            </a:r>
            <a:endParaRPr lang="en-US" sz="1100"/>
          </a:p>
        </p:txBody>
      </p:sp>
      <p:sp>
        <p:nvSpPr>
          <p:cNvPr id="12" name="Text 8"/>
          <p:cNvSpPr/>
          <p:nvPr/>
        </p:nvSpPr>
        <p:spPr>
          <a:xfrm>
            <a:off x="347472" y="395020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(3.5s) and BMAA*-f (3.4s)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3–4× faster than FAR (12.3s)</a:t>
            </a:r>
            <a:endParaRPr lang="en-US" sz="1000"/>
          </a:p>
        </p:txBody>
      </p:sp>
      <p:sp>
        <p:nvSpPr>
          <p:cNvPr id="13" name="Shape 9"/>
          <p:cNvSpPr/>
          <p:nvPr/>
        </p:nvSpPr>
        <p:spPr>
          <a:xfrm>
            <a:off x="3200400" y="3547872"/>
            <a:ext cx="2788920" cy="1188720"/>
          </a:xfrm>
          <a:prstGeom prst="rect">
            <a:avLst/>
          </a:prstGeom>
          <a:solidFill>
            <a:srgbClr val="FB8500">
              <a:alpha val="18000"/>
            </a:srgbClr>
          </a:solidFill>
          <a:ln w="1905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3200400" y="3547872"/>
            <a:ext cx="2788920" cy="36576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3273552" y="3557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FAR Travels Less</a:t>
            </a:r>
            <a:endParaRPr lang="en-US" sz="1100"/>
          </a:p>
        </p:txBody>
      </p:sp>
      <p:sp>
        <p:nvSpPr>
          <p:cNvPr id="16" name="Text 12"/>
          <p:cNvSpPr/>
          <p:nvPr/>
        </p:nvSpPr>
        <p:spPr>
          <a:xfrm>
            <a:off x="3273552" y="395020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travel dist = 225 vs BMAA* = 986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explores more due to RTHS detours</a:t>
            </a:r>
            <a:endParaRPr lang="en-US" sz="1000"/>
          </a:p>
        </p:txBody>
      </p:sp>
      <p:sp>
        <p:nvSpPr>
          <p:cNvPr id="17" name="Shape 13"/>
          <p:cNvSpPr/>
          <p:nvPr/>
        </p:nvSpPr>
        <p:spPr>
          <a:xfrm>
            <a:off x="6126480" y="3547872"/>
            <a:ext cx="2788920" cy="1188720"/>
          </a:xfrm>
          <a:prstGeom prst="rect">
            <a:avLst/>
          </a:prstGeom>
          <a:solidFill>
            <a:srgbClr val="06D6A0">
              <a:alpha val="18000"/>
            </a:srgbClr>
          </a:solidFill>
          <a:ln w="1905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126480" y="3547872"/>
            <a:ext cx="2788920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199632" y="3557016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Good Trade-off</a:t>
            </a:r>
            <a:endParaRPr lang="en-US" sz="1100"/>
          </a:p>
        </p:txBody>
      </p:sp>
      <p:sp>
        <p:nvSpPr>
          <p:cNvPr id="20" name="Text 16"/>
          <p:cNvSpPr/>
          <p:nvPr/>
        </p:nvSpPr>
        <p:spPr>
          <a:xfrm>
            <a:off x="6199632" y="3950208"/>
            <a:ext cx="2651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paths but much higher completion</a:t>
            </a:r>
            <a:endParaRPr lang="en-US" sz="1000"/>
          </a:p>
          <a:p>
            <a:pPr marL="0" indent="0">
              <a:buNone/>
            </a:pPr>
            <a:r>
              <a:rPr lang="en-US" sz="100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 — players notice NPCs NOT arriving!</a:t>
            </a:r>
            <a:endParaRPr lang="en-US" sz="10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4572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Cases — FAR vs BMAA*</a:t>
            </a:r>
            <a:endParaRPr lang="en-US" sz="2200"/>
          </a:p>
        </p:txBody>
      </p:sp>
      <p:sp>
        <p:nvSpPr>
          <p:cNvPr id="5" name="Shape 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864608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BMAA*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4114800" cy="4023360"/>
          </a:xfrm>
          <a:prstGeom prst="rect">
            <a:avLst/>
          </a:prstGeom>
          <a:solidFill>
            <a:srgbClr val="F72585">
              <a:alpha val="10000"/>
            </a:srgbClr>
          </a:solidFill>
          <a:ln w="1905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4114800" cy="384048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804672"/>
            <a:ext cx="3968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Problem: One-cell Corridors</a:t>
            </a:r>
            <a:endParaRPr lang="en-US" sz="1150"/>
          </a:p>
        </p:txBody>
      </p:sp>
      <p:sp>
        <p:nvSpPr>
          <p:cNvPr id="10" name="Shape 8"/>
          <p:cNvSpPr/>
          <p:nvPr/>
        </p:nvSpPr>
        <p:spPr>
          <a:xfrm>
            <a:off x="548640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276856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48640" y="1801368"/>
            <a:ext cx="457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024128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24128" y="2276856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024128" y="1801368"/>
            <a:ext cx="457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499616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499616" y="2276856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499616" y="1801368"/>
            <a:ext cx="457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975104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975104" y="2276856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975104" y="1801368"/>
            <a:ext cx="457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450592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450592" y="2276856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450592" y="1801368"/>
            <a:ext cx="457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26080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926080" y="2276856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926080" y="1801368"/>
            <a:ext cx="457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01568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401568" y="2276856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01568" y="1801368"/>
            <a:ext cx="457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77056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877056" y="2276856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877056" y="1801368"/>
            <a:ext cx="457200" cy="457200"/>
          </a:xfrm>
          <a:prstGeom prst="rect">
            <a:avLst/>
          </a:prstGeom>
          <a:solidFill>
            <a:srgbClr val="DBEAFE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3504" y="1856232"/>
            <a:ext cx="347472" cy="347472"/>
          </a:xfrm>
          <a:prstGeom prst="ellipse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48640" y="1801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A1</a:t>
            </a:r>
            <a:endParaRPr lang="en-US" sz="800"/>
          </a:p>
        </p:txBody>
      </p:sp>
      <p:sp>
        <p:nvSpPr>
          <p:cNvPr id="36" name="Shape 34"/>
          <p:cNvSpPr/>
          <p:nvPr/>
        </p:nvSpPr>
        <p:spPr>
          <a:xfrm>
            <a:off x="1078992" y="1856232"/>
            <a:ext cx="347472" cy="347472"/>
          </a:xfrm>
          <a:prstGeom prst="ellipse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1024128" y="1801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A2</a:t>
            </a:r>
            <a:endParaRPr lang="en-US" sz="800"/>
          </a:p>
        </p:txBody>
      </p:sp>
      <p:sp>
        <p:nvSpPr>
          <p:cNvPr id="38" name="Shape 36"/>
          <p:cNvSpPr/>
          <p:nvPr/>
        </p:nvSpPr>
        <p:spPr>
          <a:xfrm>
            <a:off x="1554480" y="1856232"/>
            <a:ext cx="347472" cy="347472"/>
          </a:xfrm>
          <a:prstGeom prst="ellipse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499616" y="1801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A3</a:t>
            </a:r>
            <a:endParaRPr lang="en-US" sz="800"/>
          </a:p>
        </p:txBody>
      </p:sp>
      <p:sp>
        <p:nvSpPr>
          <p:cNvPr id="40" name="Shape 38"/>
          <p:cNvSpPr/>
          <p:nvPr/>
        </p:nvSpPr>
        <p:spPr>
          <a:xfrm>
            <a:off x="2029968" y="1856232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1975104" y="1801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A4</a:t>
            </a:r>
            <a:endParaRPr lang="en-US" sz="800"/>
          </a:p>
        </p:txBody>
      </p:sp>
      <p:sp>
        <p:nvSpPr>
          <p:cNvPr id="42" name="Shape 40"/>
          <p:cNvSpPr/>
          <p:nvPr/>
        </p:nvSpPr>
        <p:spPr>
          <a:xfrm>
            <a:off x="2505456" y="1856232"/>
            <a:ext cx="347472" cy="34747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450592" y="1801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FFFFF"/>
                </a:solidFill>
              </a:rPr>
              <a:t>A5</a:t>
            </a:r>
            <a:endParaRPr lang="en-US" sz="800"/>
          </a:p>
        </p:txBody>
      </p:sp>
      <p:sp>
        <p:nvSpPr>
          <p:cNvPr id="44" name="Shape 42"/>
          <p:cNvSpPr/>
          <p:nvPr/>
        </p:nvSpPr>
        <p:spPr>
          <a:xfrm>
            <a:off x="3931920" y="1856232"/>
            <a:ext cx="347472" cy="347472"/>
          </a:xfrm>
          <a:prstGeom prst="ellipse">
            <a:avLst/>
          </a:prstGeom>
          <a:solidFill>
            <a:srgbClr val="FCA5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877056" y="1801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F72585"/>
                </a:solidFill>
              </a:rPr>
              <a:t>G1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365760" y="27889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FAR agents pile into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corridor → gridlock!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sharing creates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congestion.</a:t>
            </a:r>
            <a:endParaRPr lang="en-US" sz="1050"/>
          </a:p>
        </p:txBody>
      </p:sp>
      <p:sp>
        <p:nvSpPr>
          <p:cNvPr id="47" name="Text 45"/>
          <p:cNvSpPr/>
          <p:nvPr/>
        </p:nvSpPr>
        <p:spPr>
          <a:xfrm>
            <a:off x="365760" y="36118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agents take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F725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detours!</a:t>
            </a:r>
            <a:endParaRPr lang="en-US" sz="1100"/>
          </a:p>
        </p:txBody>
      </p:sp>
      <p:sp>
        <p:nvSpPr>
          <p:cNvPr id="48" name="Shape 46"/>
          <p:cNvSpPr/>
          <p:nvPr/>
        </p:nvSpPr>
        <p:spPr>
          <a:xfrm>
            <a:off x="4754880" y="804672"/>
            <a:ext cx="4114800" cy="4023360"/>
          </a:xfrm>
          <a:prstGeom prst="rect">
            <a:avLst/>
          </a:prstGeom>
          <a:solidFill>
            <a:srgbClr val="7B2D8B">
              <a:alpha val="10000"/>
            </a:srgbClr>
          </a:solidFill>
          <a:ln w="1905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4754880" y="804672"/>
            <a:ext cx="4114800" cy="384048"/>
          </a:xfrm>
          <a:prstGeom prst="rect">
            <a:avLst/>
          </a:prstGeom>
          <a:solidFill>
            <a:srgbClr val="7B2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4828032" y="804672"/>
            <a:ext cx="39684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BMAA* Problem: Dead Ends</a:t>
            </a:r>
            <a:endParaRPr lang="en-US" sz="1150"/>
          </a:p>
        </p:txBody>
      </p:sp>
      <p:sp>
        <p:nvSpPr>
          <p:cNvPr id="51" name="Shape 49"/>
          <p:cNvSpPr/>
          <p:nvPr/>
        </p:nvSpPr>
        <p:spPr>
          <a:xfrm>
            <a:off x="4892040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892040" y="3227832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5367528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5367528" y="3227832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5843016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843016" y="3227832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6318504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6318504" y="3227832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793992" y="1325880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6793992" y="3227832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4892040" y="1801368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6793992" y="1801368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892040" y="2276856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793992" y="2276856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4892040" y="2752344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6793992" y="2752344"/>
            <a:ext cx="457200" cy="4572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5367528" y="1801368"/>
            <a:ext cx="4572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843016" y="1801368"/>
            <a:ext cx="4572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Shape 67"/>
          <p:cNvSpPr/>
          <p:nvPr/>
        </p:nvSpPr>
        <p:spPr>
          <a:xfrm>
            <a:off x="6318504" y="1801368"/>
            <a:ext cx="4572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5367528" y="2276856"/>
            <a:ext cx="4572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843016" y="2276856"/>
            <a:ext cx="4572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318504" y="2276856"/>
            <a:ext cx="4572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5367528" y="2752344"/>
            <a:ext cx="4572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843016" y="2752344"/>
            <a:ext cx="45720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73"/>
          <p:cNvSpPr/>
          <p:nvPr/>
        </p:nvSpPr>
        <p:spPr>
          <a:xfrm>
            <a:off x="6318504" y="2752344"/>
            <a:ext cx="457200" cy="457200"/>
          </a:xfrm>
          <a:prstGeom prst="rect">
            <a:avLst/>
          </a:prstGeom>
          <a:solidFill>
            <a:srgbClr val="1E293B"/>
          </a:solidFill>
          <a:ln w="635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Shape 74"/>
          <p:cNvSpPr/>
          <p:nvPr/>
        </p:nvSpPr>
        <p:spPr>
          <a:xfrm>
            <a:off x="5422392" y="1856232"/>
            <a:ext cx="347472" cy="347472"/>
          </a:xfrm>
          <a:prstGeom prst="ellipse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5367528" y="18013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0D1B2A"/>
                </a:solidFill>
              </a:rPr>
              <a:t>A1</a:t>
            </a:r>
            <a:endParaRPr lang="en-US" sz="800"/>
          </a:p>
        </p:txBody>
      </p:sp>
      <p:sp>
        <p:nvSpPr>
          <p:cNvPr id="78" name="Shape 76"/>
          <p:cNvSpPr/>
          <p:nvPr/>
        </p:nvSpPr>
        <p:spPr>
          <a:xfrm>
            <a:off x="5843016" y="2752344"/>
            <a:ext cx="457200" cy="457200"/>
          </a:xfrm>
          <a:prstGeom prst="rect">
            <a:avLst/>
          </a:prstGeom>
          <a:solidFill>
            <a:srgbClr val="D1FAE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5843016" y="27523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>
                <a:solidFill>
                  <a:srgbClr val="0077B6"/>
                </a:solidFill>
              </a:rPr>
              <a:t>G1</a:t>
            </a:r>
            <a:endParaRPr lang="en-US" sz="800"/>
          </a:p>
        </p:txBody>
      </p:sp>
      <p:sp>
        <p:nvSpPr>
          <p:cNvPr id="80" name="Text 78"/>
          <p:cNvSpPr/>
          <p:nvPr/>
        </p:nvSpPr>
        <p:spPr>
          <a:xfrm>
            <a:off x="4846320" y="2788920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Misleading initial h-values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agent enters dead end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heuristic update fixes it</a:t>
            </a:r>
            <a:endParaRPr lang="en-US" sz="1050"/>
          </a:p>
          <a:p>
            <a:pPr marL="0" indent="0">
              <a:buNone/>
            </a:pPr>
            <a:r>
              <a:rPr lang="en-US" sz="105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(may take extra moves)</a:t>
            </a:r>
            <a:endParaRPr lang="en-US" sz="1050"/>
          </a:p>
        </p:txBody>
      </p:sp>
      <p:sp>
        <p:nvSpPr>
          <p:cNvPr id="81" name="Text 79"/>
          <p:cNvSpPr/>
          <p:nvPr/>
        </p:nvSpPr>
        <p:spPr>
          <a:xfrm>
            <a:off x="4846320" y="361188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Addressed by h-value</a:t>
            </a:r>
            <a:endParaRPr lang="en-US" sz="1100"/>
          </a:p>
          <a:p>
            <a:pPr marL="0" indent="0">
              <a:buNone/>
            </a:pPr>
            <a:r>
              <a:rPr lang="en-US" sz="1100" b="1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over iterations!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731520"/>
            <a:ext cx="4114800" cy="4114800"/>
          </a:xfrm>
          <a:prstGeom prst="ellipse">
            <a:avLst/>
          </a:prstGeom>
          <a:solidFill>
            <a:srgbClr val="0077B6">
              <a:alpha val="25000"/>
            </a:srgbClr>
          </a:solidFill>
          <a:ln w="12700">
            <a:solidFill>
              <a:srgbClr val="0077B6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560320"/>
            <a:ext cx="2560320" cy="256032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Takeaways</a:t>
            </a:r>
            <a:endParaRPr lang="en-US" sz="300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743200" cy="1188720"/>
          </a:xfrm>
          <a:prstGeom prst="rect">
            <a:avLst/>
          </a:prstGeom>
          <a:solidFill>
            <a:srgbClr val="06D6A0">
              <a:alpha val="18000"/>
            </a:srgbClr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2743200" cy="365760"/>
          </a:xfrm>
          <a:prstGeom prst="rect">
            <a:avLst/>
          </a:prstGeom>
          <a:solidFill>
            <a:srgbClr val="06D6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8912" y="96926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BMAA* outperforms FAR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38912" y="1353312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completion rates for &gt;200 agents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completion times (3–4× better)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1188720"/>
          </a:xfrm>
          <a:prstGeom prst="rect">
            <a:avLst/>
          </a:prstGeom>
          <a:solidFill>
            <a:srgbClr val="00B4D8">
              <a:alpha val="18000"/>
            </a:srgbClr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36576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19272" y="96926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Real-Time by Design</a:t>
            </a:r>
            <a:endParaRPr lang="en-US" sz="1000"/>
          </a:p>
        </p:txBody>
      </p:sp>
      <p:sp>
        <p:nvSpPr>
          <p:cNvPr id="13" name="Text 11"/>
          <p:cNvSpPr/>
          <p:nvPr/>
        </p:nvSpPr>
        <p:spPr>
          <a:xfrm>
            <a:off x="3319272" y="1353312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constant time per move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preprocessing or agent coordination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43200" cy="1188720"/>
          </a:xfrm>
          <a:prstGeom prst="rect">
            <a:avLst/>
          </a:prstGeom>
          <a:solidFill>
            <a:srgbClr val="FFD166">
              <a:alpha val="18000"/>
            </a:srgbClr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960120"/>
            <a:ext cx="2743200" cy="365760"/>
          </a:xfrm>
          <a:prstGeom prst="rect">
            <a:avLst/>
          </a:prstGeom>
          <a:solidFill>
            <a:srgbClr val="FFD16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99632" y="969264"/>
            <a:ext cx="25968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Modular &amp; Extensible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6199632" y="1353312"/>
            <a:ext cx="25968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annotations + Push mechanism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Easily add/remove enhancement modules</a:t>
            </a:r>
            <a:endParaRPr lang="en-US" sz="95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4114800" cy="1188720"/>
          </a:xfrm>
          <a:prstGeom prst="rect">
            <a:avLst/>
          </a:prstGeom>
          <a:solidFill>
            <a:srgbClr val="FB8500">
              <a:alpha val="18000"/>
            </a:srgbClr>
          </a:solidFill>
          <a:ln w="12700">
            <a:solidFill>
              <a:srgbClr val="FB8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5760" y="2286000"/>
            <a:ext cx="4114800" cy="365760"/>
          </a:xfrm>
          <a:prstGeom prst="rect">
            <a:avLst/>
          </a:prstGeom>
          <a:solidFill>
            <a:srgbClr val="FB85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" y="2295144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Trade-off Exists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438912" y="2679192"/>
            <a:ext cx="39684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travel distances vs FAR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Dead-end problem partially unresolved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4617720" y="2286000"/>
            <a:ext cx="4114800" cy="1188720"/>
          </a:xfrm>
          <a:prstGeom prst="rect">
            <a:avLst/>
          </a:prstGeom>
          <a:solidFill>
            <a:srgbClr val="F72585">
              <a:alpha val="18000"/>
            </a:srgbClr>
          </a:solidFill>
          <a:ln w="12700">
            <a:solidFill>
              <a:srgbClr val="F72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2286000"/>
            <a:ext cx="4114800" cy="365760"/>
          </a:xfrm>
          <a:prstGeom prst="rect">
            <a:avLst/>
          </a:prstGeom>
          <a:solidFill>
            <a:srgbClr val="F7258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90872" y="2295144"/>
            <a:ext cx="396849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Future Directions</a:t>
            </a: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690872" y="2679192"/>
            <a:ext cx="39684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 reduction, precomputation</a:t>
            </a:r>
            <a:endParaRPr lang="en-US" sz="950"/>
          </a:p>
          <a:p>
            <a:pPr marL="0" indent="0">
              <a:buNone/>
            </a:pPr>
            <a:r>
              <a:rPr lang="en-US" sz="95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Per-problem algorithm selection with DL</a:t>
            </a:r>
            <a:endParaRPr lang="en-US" sz="950"/>
          </a:p>
        </p:txBody>
      </p:sp>
      <p:sp>
        <p:nvSpPr>
          <p:cNvPr id="28" name="Shape 26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75488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Pathfinding with Real-Time Heuristic Search  |  CS5201 — IIT Patna  |  BMAA* by Sigurdson et al.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30</Slides>
  <Notes>30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Multi-Agent Pathfinding with Real-Time Heuristic Search</dc:title>
  <dc:subject>PptxGenJS Presentation</dc:subject>
  <dc:creator>PptxGenJS</dc:creator>
  <cp:lastModifiedBy>KUMAR ARYAN1</cp:lastModifiedBy>
  <cp:revision>2</cp:revision>
  <dcterms:created xsi:type="dcterms:W3CDTF">2026-03-06T05:19:28Z</dcterms:created>
  <dcterms:modified xsi:type="dcterms:W3CDTF">2026-03-19T18:29:56Z</dcterms:modified>
</cp:coreProperties>
</file>