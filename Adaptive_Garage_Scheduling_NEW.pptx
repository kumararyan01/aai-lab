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 w="12700">
            <a:solidFill>
              <a:srgbClr val="065A82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65760"/>
            <a:ext cx="2743200" cy="27432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237744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87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RESEARCH PRESENTATION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Garage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Tasks &amp; Fatigue Constraints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Real-Time Mechanic Scheduling with Probabilistic Task Generation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Adaptive Scheduling Systems  |  Probabilistic Operations Research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73152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990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7373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 &amp;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0574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approach, assumptions &amp; optimization criteria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25880"/>
            <a:ext cx="73152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39903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65192" y="17373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Approach &amp; 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65192" y="20574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structure, algorithm details, fatigue management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43200"/>
            <a:ext cx="73152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81635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0352" y="3154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4747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cars, 4 mechanics — step-by-step execution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7432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743200"/>
            <a:ext cx="73152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81635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65192" y="3154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34747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Makespan comparison across scheduling scenarios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60520"/>
            <a:ext cx="73152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23367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0352" y="45720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Outlook &amp; Summary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" y="48920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Directions, limitations and key takeaways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A1628">
              <a:alpha val="60000"/>
            </a:srgbClr>
          </a:solidFill>
          <a:ln w="12700">
            <a:solidFill>
              <a:srgbClr val="0A1628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315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Model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16459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&amp; Problem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Problem Context &amp; Model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Dynamic Task Evolution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Tasks may trigger new mandatory sub-tasks probabilistically during execution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64008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1556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Task Structure: DAGs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Each car type is represented by a Task Dependency Graph (directed acyclic graph)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23160"/>
            <a:ext cx="64008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3288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Mechanic Fatigue Management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28803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Mandatory break after k consecutive tasks to prevent burnout and maintain performance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423160"/>
            <a:ext cx="64008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53288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Adaptive Scheduling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8803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Schedule updates in real-time as new tasks are generated during service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384048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0" y="3840480"/>
            <a:ext cx="64008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395020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Optimization Objective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0" y="429768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Minimize overall completion time (makespan) across all cars and mechanics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Assumptions &amp; System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Problem Context &amp; Model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2161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Uniform Task Duration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61848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Each task takes exactly 1 time unit to complete.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28016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15000" y="12161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Mechanic Interchangeability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15000" y="161848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All mechanics are identical and can perform any task.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7180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29077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Independent Task Generation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31012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New tasks are generated using independent random variables.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297180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715000" y="29077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No Setup Time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15000" y="331012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No extra time needed between tasks or car types.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Optimization Criteria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Problem Context &amp; Model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393192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39319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Makespan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total garage operation time for all tasks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Task Dependencies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600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tasks follow DAG precedence constraints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393192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88920"/>
            <a:ext cx="39319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71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Management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breaks after k consecutive tasks for mechanics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393192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788920"/>
            <a:ext cx="39319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971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Adaptation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33832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schedule as new tasks are generated probabilistically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A1628">
              <a:alpha val="60000"/>
            </a:srgbClr>
          </a:solidFill>
          <a:ln w="12700">
            <a:solidFill>
              <a:srgbClr val="0A1628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315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Approach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Analysis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16459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Task Dependency Graph (DAG) Visualization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Scheduling Approach &amp; Analysis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1005840"/>
            <a:ext cx="7772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107899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DAG Structure per Car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Each car's service tasks form a directed acyclic graph, capturing task dependencies.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2011680"/>
            <a:ext cx="7772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8720" y="208483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Sequential &amp; Parallel Task Flow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Tasks activate as dependencies are resolved, enabling maximum parallelism.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12724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3017520"/>
            <a:ext cx="7772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309067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Probabilistic Task Activation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Edges represent the probability of triggering follow-up sub-tasks at runtime.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13308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133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05840" y="4023360"/>
            <a:ext cx="7772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88720" y="409651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Dynamic Schedule Adaptation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New tasks are integrated into the live schedule in real time as they are generated.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Algorithm Details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Scheduling Approach &amp; Analysis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069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406908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Scheduling Algorithm Workflow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18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161848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Initialize queue with indegree-zero tasks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41448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24414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Assign tasks to available mechanics, enforce fatigue constraint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64408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64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32644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Execute tasks, handle probabilistic task generation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087368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87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992" y="40873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Recompute priorities and update queue dynamically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960120"/>
            <a:ext cx="411480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960120"/>
            <a:ext cx="4114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698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Priority Computation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▸  Longest-path estimate via DFS assigns task priorities.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▸  Tasks on longer dependency chains get higher priority.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971800"/>
            <a:ext cx="411480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971800"/>
            <a:ext cx="4114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Dynamic Scheduling with Fatigue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566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▸  Real-time assignment using a max-priority queue.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▸  Mechanics take mandatory breaks after K consecutive tasks.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Fatigue Management &amp;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Scheduling Approach &amp; Analysis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FATIGUE CYCLE TIMELINE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16459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08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Phase (K tasks)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20824" y="1508760"/>
            <a:ext cx="237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21608" y="1508760"/>
            <a:ext cx="16459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1508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Mandatory Break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22392" y="1508760"/>
            <a:ext cx="237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23176" y="1508760"/>
            <a:ext cx="164592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23176" y="1508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Resume Scheduling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286000"/>
            <a:ext cx="64008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77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Mandatory Breaks After Consecutive Tasks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743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Mechanics must rest after completing K tasks in a row to maintain performance and well-being.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86000"/>
            <a:ext cx="64008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377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Reduced Parallelism During Breaks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743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Breaks temporarily lower the number of active mechanics, impacting throughput.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65760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57600"/>
            <a:ext cx="64008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49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Impact on Task Completion Timeline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114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Delays occur when multiple mechanics take breaks simultaneously, causing bottlenecks.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65760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657600"/>
            <a:ext cx="64008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749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Workload Visualization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114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Mechanic workload vs. time graphs highlight break periods and scheduling efficiency.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A1628">
              <a:alpha val="60000"/>
            </a:srgbClr>
          </a:solidFill>
          <a:ln w="12700">
            <a:solidFill>
              <a:srgbClr val="0A1628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315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16459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Example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Worked Example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4F8"/>
                </a:solidFill>
              </a:rPr>
              <a:t>Optimal task assignment for 3 cars, 4 mechanics, fatigue break every 3 consecutive time steps.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196596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25880"/>
            <a:ext cx="19659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Cars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325880"/>
            <a:ext cx="196596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325880"/>
            <a:ext cx="19659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68880" y="1920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Mechanics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325880"/>
            <a:ext cx="196596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325880"/>
            <a:ext cx="19659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</a:rPr>
              <a:t>K=3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17720" y="1920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Fatigue Threshold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325880"/>
            <a:ext cx="196596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325880"/>
            <a:ext cx="19659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</a:rPr>
              <a:t>17+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66560" y="1920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Base Tasks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2468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Graph 1 — Car 1 (Tasks 1–10)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34640"/>
          <a:ext cx="4023360" cy="210312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From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Prob.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2C39A"/>
                          </a:solidFill>
                        </a:rPr>
                        <a:t>0.01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2C39A"/>
                          </a:solidFill>
                        </a:rPr>
                        <a:t>0.01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2C39A"/>
                          </a:solidFill>
                        </a:rPr>
                        <a:t>0.01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2C39A"/>
                          </a:solidFill>
                        </a:rPr>
                        <a:t>0.01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2C39A"/>
                          </a:solidFill>
                        </a:rPr>
                        <a:t>0.01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2C39A"/>
                          </a:solidFill>
                        </a:rPr>
                        <a:t>0.01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4754880" y="2468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Graph 2 — Car 2 (Tasks 11–15)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834640"/>
          <a:ext cx="4023360" cy="210312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From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Prob.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2C39A"/>
                          </a:solidFill>
                        </a:rPr>
                        <a:t>0.30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2C39A"/>
                          </a:solidFill>
                        </a:rPr>
                        <a:t>0.30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2C39A"/>
                          </a:solidFill>
                        </a:rPr>
                        <a:t>0.50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2C39A"/>
                          </a:solidFill>
                        </a:rPr>
                        <a:t>0.50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2C39A"/>
                          </a:solidFill>
                        </a:rPr>
                        <a:t>0.20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F4F8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2C39A"/>
                          </a:solidFill>
                        </a:rPr>
                        <a:t>0.01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Initial Optimal Schedule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Worked Example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Static assignment computed before execution. Mechanics are assigned to maximize parallel task throughput.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25880"/>
          <a:ext cx="8503920" cy="3566160"/>
        </p:xfrm>
        <a:graphic>
          <a:graphicData uri="http://schemas.openxmlformats.org/drawingml/2006/table">
            <a:tbl>
              <a:tblPr/>
              <a:tblGrid>
                <a:gridCol w="640080"/>
                <a:gridCol w="1965960"/>
                <a:gridCol w="1965960"/>
                <a:gridCol w="1965960"/>
                <a:gridCol w="1965960"/>
              </a:tblGrid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Mechanic 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Mechanic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Mechanic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Mechanic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1 — Task 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2 — Task 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3 — Task 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3 — Task 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1 — Task 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1 — Task 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2 — Task 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1 — Task 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2 — Task 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1 — Task 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3 — Task 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1 — Task 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1 — Task 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1 — Task 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1 — Task 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2 — Task 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3 — Task 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3 — Task 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2 — Task 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3 — Task 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Car 1 — Task 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Dynamic Execution Log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Worked Example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Runtime behavior including task activations, dynamic sub-task creation, and mandatory fatigue breaks.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8503920" cy="548640"/>
          </a:xfrm>
          <a:prstGeom prst="rect">
            <a:avLst/>
          </a:prstGeom>
          <a:solidFill>
            <a:srgbClr val="0D213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t =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463040"/>
            <a:ext cx="0" cy="27432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32588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M0→T1, M1→T11, M2→T17, M3→T16. Activates: T2–T5, T13. Sub-task T100 created.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938528"/>
            <a:ext cx="8503920" cy="548640"/>
          </a:xfrm>
          <a:prstGeom prst="rect">
            <a:avLst/>
          </a:prstGeom>
          <a:solidFill>
            <a:srgbClr val="0D213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3852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t =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2075688"/>
            <a:ext cx="0" cy="27432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1938528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M0→T2, M1→T3, M2→T4, M3→T5. Activates: T6, T7, T8. Sub-tasks T101, T102 created.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551176"/>
            <a:ext cx="8503920" cy="548640"/>
          </a:xfrm>
          <a:prstGeom prst="rect">
            <a:avLst/>
          </a:prstGeom>
          <a:solidFill>
            <a:srgbClr val="0D213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5117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t =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94560" y="2688336"/>
            <a:ext cx="0" cy="27432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2551176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M0→T13, M1→T8, M2→T6, M3→T9. Tasks complete, dependencies resolved.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163824"/>
            <a:ext cx="8503920" cy="548640"/>
          </a:xfrm>
          <a:prstGeom prst="rect">
            <a:avLst/>
          </a:prstGeom>
          <a:solidFill>
            <a:srgbClr val="7B3F0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6382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t = 3 ⚠ BREAK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94560" y="3300984"/>
            <a:ext cx="0" cy="27432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3163824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580"/>
                </a:solidFill>
              </a:rPr>
              <a:t>All mechanics rest (3 consecutive steps worked). Time advances. No tasks assigned.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776472"/>
            <a:ext cx="8503920" cy="548640"/>
          </a:xfrm>
          <a:prstGeom prst="rect">
            <a:avLst/>
          </a:prstGeom>
          <a:solidFill>
            <a:srgbClr val="0D213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7647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t = 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94560" y="3913632"/>
            <a:ext cx="0" cy="27432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31720" y="3776472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M0→T7 (activates T10), M1→T101 (creates T103), M2→T102, M3→T100.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4389120"/>
            <a:ext cx="8503920" cy="548640"/>
          </a:xfrm>
          <a:prstGeom prst="rect">
            <a:avLst/>
          </a:prstGeom>
          <a:solidFill>
            <a:srgbClr val="0D213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389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t = 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194560" y="4526280"/>
            <a:ext cx="0" cy="27432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438912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M0→T10, M1→T103. All tasks completed. Makespan = 6 time units.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the Scheduler Works: Three-Phase Algorithm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Worked Example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118872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Static Planning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Compute an optimal initial assignment using all task graphs and probabilities. Tasks with highest dependency-path are prioritized.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1440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118872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Dynamic Activation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26974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Completed tasks unlock successors probabilistically. Stochastic branches spawn sub-tasks (T100–T103) at runtime, updating the live queue.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91440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86600" y="118872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5508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Fatigue Enforcement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26974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After K=3 consecutive steps, every mechanic takes a mandatory break. The scheduler idles and resumes when all are ready.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90672" y="2606040"/>
            <a:ext cx="2743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606040"/>
            <a:ext cx="2743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A1628">
              <a:alpha val="60000"/>
            </a:srgbClr>
          </a:solidFill>
          <a:ln w="12700">
            <a:solidFill>
              <a:srgbClr val="0A1628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315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16459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&amp;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Scheduling Approach &amp; Analysis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743200"/>
            <a:ext cx="2011680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23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12 units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Initial Schedule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(No Fatigue)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2194560"/>
            <a:ext cx="2011680" cy="2194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1874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16 units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4480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With Fatigue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Constraint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2011680" cy="2606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5042"/>
                </a:solidFill>
              </a:rPr>
              <a:t>19 units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44805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With Dynamic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Task Injection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80467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16200000">
            <a:off x="0" y="2286000"/>
            <a:ext cx="457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Makespan (Time Units)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005840"/>
            <a:ext cx="8412480" cy="731520"/>
          </a:xfrm>
          <a:prstGeom prst="rect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💡  Dynamic task injection increases makespan by ~58% vs. the ideal no-fatigue baseline, highlighting the real cost of stochastic arrivals and mandatory breaks.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Limitations &amp; Discussion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Scheduling Approach &amp; Analysis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02336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Heuristic Scheduling Limitations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Greedy approach may not yield the globally shortest makespan.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756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No global optimization; adapts only to current state.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02336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430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Dynamic Task Generation Challenges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5727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Randomly generated tasks disrupt the initial schedule.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0756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Complexity increases as new tasks and dependencies emerge.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17520"/>
            <a:ext cx="4023360" cy="54864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546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Fatigue &amp; Break Scheduling Impact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Mandatory breaks reduce mechanic availability.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087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Simultaneous breaks can cause significant bottlenecks.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017520"/>
            <a:ext cx="402336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1546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Scalability &amp; Efficiency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584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Efficient for moderate task sizes via incremental updates.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4087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Performance may degrade with large, highly dynamic workloads.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A1628">
              <a:alpha val="60000"/>
            </a:srgbClr>
          </a:solidFill>
          <a:ln w="12700">
            <a:solidFill>
              <a:srgbClr val="0A1628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315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Outlook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Summary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16459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Directions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Future Outlook &amp; Summary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02336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8016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1887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Optimization Model Development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6002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Implement exact models (MILP, CP) for benchmarking against the heuristic greedy approach.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28016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0" y="11887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Probabilistic Makespan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15000" y="16002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Estimate expected completion time and variance across multiple stochastic simulation runs.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02336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20040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1089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Adaptive Scheduling Strategies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5204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Integrate learning-based and look-ahead policies that anticipate likely task generation patterns.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402336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320040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0" y="31089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Enhanced Fatigue &amp; Real Constraints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15000" y="35204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Model variable break durations and real-world resource limits like skill specialization.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Takeaways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Future Outlook &amp; Summary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61288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61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03327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Dynamic Task Adaptation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41732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Schedules update in real-time as new tasks emerge probabilistically from completed work.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65960"/>
            <a:ext cx="64008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167128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03911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Mechanic Fatigue Management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4231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Mandatory breaks after k consecutive tasks ensure well-being and sustained performance.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7180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172968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04495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Priority-Driven Scheduling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42900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Critical tasks are prioritized using longest-path dependency analysis (DFS-based).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97764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977640"/>
            <a:ext cx="64008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178808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0507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Modular &amp; Extensible Framework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" y="443484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The architecture easily adapts to varied stochastic scheduling environments.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9260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</a:rPr>
              <a:t>Adaptive Garage Scheduling: Dynamic Tasks &amp; Fatigue Constraints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4F8"/>
                </a:solidFill>
              </a:rPr>
              <a:t>Questions &amp; Discussion Welcome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Probabilistic Operations Research  |  Real-Time Scheduling  |  Fatigue-Aware Systems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Garage Scheduling</dc:title>
  <dc:subject>PptxGenJS Presentation</dc:subject>
  <dc:creator>PptxGenJS</dc:creator>
  <cp:lastModifiedBy>PptxGenJS</cp:lastModifiedBy>
  <cp:revision>1</cp:revision>
  <dcterms:created xsi:type="dcterms:W3CDTF">2026-04-09T10:53:17Z</dcterms:created>
  <dcterms:modified xsi:type="dcterms:W3CDTF">2026-04-09T10:53:17Z</dcterms:modified>
</cp:coreProperties>
</file>